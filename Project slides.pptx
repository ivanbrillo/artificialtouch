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sldIdLst>
    <p:sldId id="261" r:id="rId5"/>
    <p:sldId id="256" r:id="rId6"/>
    <p:sldId id="262" r:id="rId7"/>
    <p:sldId id="263" r:id="rId8"/>
    <p:sldId id="264" r:id="rId9"/>
    <p:sldId id="265" r:id="rId10"/>
    <p:sldId id="266" r:id="rId11"/>
    <p:sldId id="272" r:id="rId12"/>
    <p:sldId id="273" r:id="rId13"/>
    <p:sldId id="274" r:id="rId14"/>
    <p:sldId id="275" r:id="rId15"/>
    <p:sldId id="276" r:id="rId16"/>
    <p:sldId id="277" r:id="rId17"/>
    <p:sldId id="267" r:id="rId18"/>
    <p:sldId id="281" r:id="rId19"/>
    <p:sldId id="283" r:id="rId20"/>
    <p:sldId id="268" r:id="rId21"/>
    <p:sldId id="269" r:id="rId22"/>
    <p:sldId id="280" r:id="rId23"/>
    <p:sldId id="278" r:id="rId24"/>
    <p:sldId id="282" r:id="rId25"/>
    <p:sldId id="260" r:id="rId26"/>
    <p:sldId id="270" r:id="rId27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40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9F6123-ABA5-8459-068F-B04A33EF7623}" v="3" dt="2025-05-31T08:22:10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B0250-5E95-4301-A834-CE72E4D9A9B1}" type="datetimeFigureOut">
              <a:rPr lang="it-IT" smtClean="0"/>
              <a:t>03/10/2025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14DB0-6389-4E60-A9E8-38662DC90D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059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it-IT" sz="18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4DB0-6389-4E60-A9E8-38662DC90D27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6894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84BAF-21A5-8476-BDE7-3890D394B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41E6DC5-8DF4-E4E0-B559-509192BFA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77D1A17-9FA2-C5CA-249C-8768945B6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it-IT" sz="18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89A6BA-8D71-CC1F-336D-4F5A50416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4DB0-6389-4E60-A9E8-38662DC90D27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8805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DD581-EDB6-C679-95D7-A52959639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E432198-937D-BFD8-3E14-9306E37A8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6543901-D30C-0DF5-F6E7-F24365C1B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it-IT" sz="18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BC1AC83-3244-5352-E0F1-F78E3F4DF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4DB0-6389-4E60-A9E8-38662DC90D27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4653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4B52B-A41B-3D1A-F976-DE329953D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6506FB9-F61C-F309-B5F8-E55A80216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D7A0890-AA8E-7D37-223F-95F070010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it-IT" sz="18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467B79C-4D01-67D8-7F96-E820A9D729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4DB0-6389-4E60-A9E8-38662DC90D27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1459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9B8AF-CFF7-A65E-A576-B86959E17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DE199CE-6229-D7E1-CC23-DB7869DDE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C3AFD94-645A-52F1-20B6-A45661512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it-IT" sz="18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6475444-5AD4-0FC6-34D7-4F9F4BAA25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4DB0-6389-4E60-A9E8-38662DC90D27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948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9E67E-335A-A948-BFF6-57F69AE27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2EFFC1D-8A91-C881-4037-3A2255F1C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919B44A-E239-786A-54EC-5A0D24F98A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it-IT" sz="18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B124BE3-3719-4D55-8FAF-AAF94B8A9F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4DB0-6389-4E60-A9E8-38662DC90D27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8331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DC715-063C-7B6A-4CD3-CD3BFE36B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EF26D7-C803-041A-62D9-3DDB0A2AB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DDF04-2D17-4FBF-762D-9C7165098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12BED-046C-E5A3-04E2-F8542BFD9E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4DB0-6389-4E60-A9E8-38662DC90D27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18050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816AE-12BD-4561-A19F-37BCC2632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184A39-C8CD-47E8-B760-A8A4FA197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BF9F48-70BA-B726-8ADF-5670A31E7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EA548-5493-832B-ED3D-7B50CCD4C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4DB0-6389-4E60-A9E8-38662DC90D27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8045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13509-9094-FE68-9313-22F361599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02E99-55CE-3B51-FEA4-3E303280C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E30EE-9B0F-1246-576C-C1255F745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06551-B011-CB02-41D5-79E53E2F4A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4DB0-6389-4E60-A9E8-38662DC90D27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8067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F1579-9201-FCFB-44AB-1B8198C4C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037F4-960C-5688-AE35-3CA9A7724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60AEB-09EB-3826-C5C9-336A7DA8D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CEDB9-D29C-5161-E59F-0F908219D7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4DB0-6389-4E60-A9E8-38662DC90D27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4402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25AB3-9B58-D726-B82F-80A79376D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3A633B-6D1F-4AB7-72A2-07038A52F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C5202-7302-6A56-AF83-6AB207972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2783B-C9D1-4672-BC5D-79C214E1C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4DB0-6389-4E60-A9E8-38662DC90D27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94836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DAE3D-6897-387E-A2F9-26A8C8BE1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ACB4B5-FD45-EE10-5FD2-F59F3B328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0D45D-4924-25B1-0110-4EE3D4A84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1811E-41D6-E5E6-40DB-A82FD69BAD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4DB0-6389-4E60-A9E8-38662DC90D27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1082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8979A-E120-2B94-1FBC-212277769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8C622A9-97BC-9238-AD61-2F9D05B8B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61A88F1-BC90-1016-E054-BE831F1CB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it-IT" sz="18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B9133F2-41D2-309F-21EA-02F7AF6E8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4DB0-6389-4E60-A9E8-38662DC90D27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56556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97284-22F1-1476-BB1B-8704D445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54227-E42A-42D3-67B6-1281E1E83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FD267C-3BB0-94A0-F8F5-40621B8D7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59163-3E89-AD98-3D10-E7F0BD22E1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4DB0-6389-4E60-A9E8-38662DC90D27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7407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8DF94-F2C1-90CE-61AB-02BE63F34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E250A1-840F-A4E0-C86D-8091E5E77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5B853-4A7F-1E5A-BB33-16964AB0D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35B51-79D9-F938-CF29-E1043E8F5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4DB0-6389-4E60-A9E8-38662DC90D27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46020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6788F-634F-FDEF-5278-5E53DEE86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F0B0AA0-75A7-A766-1537-E54078AFC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8D1DF65-E766-5AE4-D697-489809212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it-IT" sz="18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ECC176C-99FF-A1B1-6B54-F27C873BA0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4DB0-6389-4E60-A9E8-38662DC90D27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70272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44EF1-71F7-E197-9523-91504ABBC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5FE0EB7-6857-60BF-171A-4049AADDD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05924D1-27C5-ED7F-D267-2C7064538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it-IT" sz="18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D9D6C2-0CAD-745F-DC76-20C9A79108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4DB0-6389-4E60-A9E8-38662DC90D27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16878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3D81E-A414-5C75-03FD-FCCA5B597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174FE60-6D0D-18DB-47DE-9F51B9049A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3050E79-04D3-AD4B-51DE-4183F9BA8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it-IT" sz="18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4AF3B4E-3908-5C51-7375-B9DD959DAD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4DB0-6389-4E60-A9E8-38662DC90D27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29881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AC16C-CEA1-1161-7AD8-4F4C0FC93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DC330-5775-8409-359B-161489D15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C4352-7024-1B5D-EE0A-3BE8F6805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097C0-38A3-8E5E-9B3D-ED288032E8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4DB0-6389-4E60-A9E8-38662DC90D27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19228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2DB2D-8D4A-3345-6DDB-9C0154885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2AA72-BBAB-C6E4-2DC6-F552188C3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00A7B-B737-F324-94DE-D08A2FFB9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C84DC-4E7D-43F9-F375-C0B72AA10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14DB0-6389-4E60-A9E8-38662DC90D27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0940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5D2-CA2A-6548-955E-9897154AE4E2}" type="datetimeFigureOut">
              <a:rPr lang="it-IT" smtClean="0"/>
              <a:t>03/10/2025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8145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5D2-CA2A-6548-955E-9897154AE4E2}" type="datetimeFigureOut">
              <a:rPr lang="it-IT" smtClean="0"/>
              <a:t>03/10/2025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6780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5D2-CA2A-6548-955E-9897154AE4E2}" type="datetimeFigureOut">
              <a:rPr lang="it-IT" smtClean="0"/>
              <a:t>03/10/2025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8611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5D2-CA2A-6548-955E-9897154AE4E2}" type="datetimeFigureOut">
              <a:rPr lang="it-IT" smtClean="0"/>
              <a:t>03/10/2025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8407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5D2-CA2A-6548-955E-9897154AE4E2}" type="datetimeFigureOut">
              <a:rPr lang="it-IT" smtClean="0"/>
              <a:t>03/10/2025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1664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5D2-CA2A-6548-955E-9897154AE4E2}" type="datetimeFigureOut">
              <a:rPr lang="it-IT" smtClean="0"/>
              <a:t>03/10/2025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693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5D2-CA2A-6548-955E-9897154AE4E2}" type="datetimeFigureOut">
              <a:rPr lang="it-IT" smtClean="0"/>
              <a:t>03/10/2025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4868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5D2-CA2A-6548-955E-9897154AE4E2}" type="datetimeFigureOut">
              <a:rPr lang="it-IT" smtClean="0"/>
              <a:t>03/10/2025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032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5D2-CA2A-6548-955E-9897154AE4E2}" type="datetimeFigureOut">
              <a:rPr lang="it-IT" smtClean="0"/>
              <a:t>03/10/2025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6212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5D2-CA2A-6548-955E-9897154AE4E2}" type="datetimeFigureOut">
              <a:rPr lang="it-IT" smtClean="0"/>
              <a:t>03/10/2025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4800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5D2-CA2A-6548-955E-9897154AE4E2}" type="datetimeFigureOut">
              <a:rPr lang="it-IT" smtClean="0"/>
              <a:t>03/10/2025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5689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5B5D2-CA2A-6548-955E-9897154AE4E2}" type="datetimeFigureOut">
              <a:rPr lang="it-IT" smtClean="0"/>
              <a:t>03/10/2025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11C3C-84A5-A346-8CE0-29825D2E2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75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18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emf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emf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emf"/><Relationship Id="rId7" Type="http://schemas.openxmlformats.org/officeDocument/2006/relationships/image" Target="../media/image10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emf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emf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5.emf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emf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" Type="http://schemas.openxmlformats.org/officeDocument/2006/relationships/image" Target="../media/image15.png"/><Relationship Id="rId21" Type="http://schemas.openxmlformats.org/officeDocument/2006/relationships/image" Target="../media/image30.png"/><Relationship Id="rId7" Type="http://schemas.openxmlformats.org/officeDocument/2006/relationships/image" Target="../media/image18.png"/><Relationship Id="rId12" Type="http://schemas.openxmlformats.org/officeDocument/2006/relationships/image" Target="../media/image21.png"/><Relationship Id="rId17" Type="http://schemas.openxmlformats.org/officeDocument/2006/relationships/image" Target="../media/image26.svg"/><Relationship Id="rId25" Type="http://schemas.openxmlformats.org/officeDocument/2006/relationships/image" Target="../media/image34.png"/><Relationship Id="rId33" Type="http://schemas.openxmlformats.org/officeDocument/2006/relationships/image" Target="../media/image42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3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5.emf"/><Relationship Id="rId24" Type="http://schemas.openxmlformats.org/officeDocument/2006/relationships/image" Target="../media/image33.png"/><Relationship Id="rId32" Type="http://schemas.openxmlformats.org/officeDocument/2006/relationships/image" Target="../media/image41.png"/><Relationship Id="rId5" Type="http://schemas.openxmlformats.org/officeDocument/2006/relationships/image" Target="../media/image17.sv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10" Type="http://schemas.openxmlformats.org/officeDocument/2006/relationships/image" Target="../media/image4.emf"/><Relationship Id="rId19" Type="http://schemas.openxmlformats.org/officeDocument/2006/relationships/image" Target="../media/image28.png"/><Relationship Id="rId31" Type="http://schemas.openxmlformats.org/officeDocument/2006/relationships/image" Target="../media/image40.svg"/><Relationship Id="rId4" Type="http://schemas.openxmlformats.org/officeDocument/2006/relationships/image" Target="../media/image16.png"/><Relationship Id="rId9" Type="http://schemas.openxmlformats.org/officeDocument/2006/relationships/image" Target="../media/image20.sv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svg"/><Relationship Id="rId30" Type="http://schemas.openxmlformats.org/officeDocument/2006/relationships/image" Target="../media/image39.png"/><Relationship Id="rId8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13" Type="http://schemas.openxmlformats.org/officeDocument/2006/relationships/image" Target="../media/image15.png"/><Relationship Id="rId18" Type="http://schemas.openxmlformats.org/officeDocument/2006/relationships/image" Target="../media/image35.png"/><Relationship Id="rId3" Type="http://schemas.openxmlformats.org/officeDocument/2006/relationships/image" Target="../media/image18.png"/><Relationship Id="rId21" Type="http://schemas.openxmlformats.org/officeDocument/2006/relationships/image" Target="../media/image38.svg"/><Relationship Id="rId7" Type="http://schemas.openxmlformats.org/officeDocument/2006/relationships/image" Target="../media/image4.emf"/><Relationship Id="rId12" Type="http://schemas.openxmlformats.org/officeDocument/2006/relationships/image" Target="../media/image32.png"/><Relationship Id="rId17" Type="http://schemas.openxmlformats.org/officeDocument/2006/relationships/image" Target="../media/image34.png"/><Relationship Id="rId25" Type="http://schemas.openxmlformats.org/officeDocument/2006/relationships/image" Target="../media/image42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1.png"/><Relationship Id="rId24" Type="http://schemas.openxmlformats.org/officeDocument/2006/relationships/image" Target="../media/image41.png"/><Relationship Id="rId5" Type="http://schemas.openxmlformats.org/officeDocument/2006/relationships/image" Target="../media/image20.svg"/><Relationship Id="rId15" Type="http://schemas.openxmlformats.org/officeDocument/2006/relationships/image" Target="../media/image17.svg"/><Relationship Id="rId23" Type="http://schemas.openxmlformats.org/officeDocument/2006/relationships/image" Target="../media/image40.svg"/><Relationship Id="rId10" Type="http://schemas.openxmlformats.org/officeDocument/2006/relationships/image" Target="../media/image30.png"/><Relationship Id="rId19" Type="http://schemas.openxmlformats.org/officeDocument/2006/relationships/image" Target="../media/image36.svg"/><Relationship Id="rId4" Type="http://schemas.openxmlformats.org/officeDocument/2006/relationships/image" Target="../media/image19.png"/><Relationship Id="rId9" Type="http://schemas.openxmlformats.org/officeDocument/2006/relationships/image" Target="../media/image29.png"/><Relationship Id="rId14" Type="http://schemas.openxmlformats.org/officeDocument/2006/relationships/image" Target="../media/image16.png"/><Relationship Id="rId22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.emf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.emf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6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jpeg"/><Relationship Id="rId3" Type="http://schemas.openxmlformats.org/officeDocument/2006/relationships/image" Target="../media/image4.emf"/><Relationship Id="rId7" Type="http://schemas.openxmlformats.org/officeDocument/2006/relationships/image" Target="../media/image6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jpe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4.emf"/><Relationship Id="rId7" Type="http://schemas.openxmlformats.org/officeDocument/2006/relationships/image" Target="../media/image6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5.emf"/><Relationship Id="rId9" Type="http://schemas.openxmlformats.org/officeDocument/2006/relationships/image" Target="../media/image6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9.png"/><Relationship Id="rId4" Type="http://schemas.openxmlformats.org/officeDocument/2006/relationships/image" Target="../media/image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557F3243-B483-47CB-3850-71235B20F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3"/>
            <a:ext cx="9144000" cy="685251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C9971D87-7F24-F0FA-489D-3BC49890F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921441"/>
            <a:ext cx="7772400" cy="1470025"/>
          </a:xfrm>
        </p:spPr>
        <p:txBody>
          <a:bodyPr>
            <a:noAutofit/>
          </a:bodyPr>
          <a:lstStyle/>
          <a:p>
            <a:r>
              <a:rPr lang="en-GB" sz="4800" b="1">
                <a:solidFill>
                  <a:srgbClr val="0F40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A Material Classification Protocol for a Mechatronic Platform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FAF81D2-BAEE-C36F-C271-FC97BEE2E5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/>
              <a:t>Giovanni Luca Biundo</a:t>
            </a:r>
          </a:p>
          <a:p>
            <a:r>
              <a:rPr lang="it-IT"/>
              <a:t>Ivan Brillo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FA747CE-5AFE-B5DB-4040-D2FB8E6059DE}"/>
              </a:ext>
            </a:extLst>
          </p:cNvPr>
          <p:cNvSpPr/>
          <p:nvPr/>
        </p:nvSpPr>
        <p:spPr>
          <a:xfrm>
            <a:off x="-105101" y="6133539"/>
            <a:ext cx="9249103" cy="7244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AED209C-9415-DC99-BDBE-9BC6D630C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3" y="6297699"/>
            <a:ext cx="1827473" cy="39614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41EE5E1-C0D1-0BE5-B2F2-383991A9D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762" y="6182397"/>
            <a:ext cx="1165321" cy="619077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D5498F8-B9DF-5C7C-DF7C-BBDD8A962B92}"/>
              </a:ext>
            </a:extLst>
          </p:cNvPr>
          <p:cNvSpPr txBox="1"/>
          <p:nvPr/>
        </p:nvSpPr>
        <p:spPr>
          <a:xfrm>
            <a:off x="2385851" y="6208931"/>
            <a:ext cx="4834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A.Y 2024/2025 </a:t>
            </a:r>
          </a:p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Mining and Machine Learning Project</a:t>
            </a:r>
            <a:endParaRPr lang="it-IT" sz="160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121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/>
          <p:cNvSpPr/>
          <p:nvPr/>
        </p:nvSpPr>
        <p:spPr>
          <a:xfrm>
            <a:off x="-238531" y="6376664"/>
            <a:ext cx="8472199" cy="481339"/>
          </a:xfrm>
          <a:prstGeom prst="parallelogram">
            <a:avLst/>
          </a:prstGeom>
          <a:solidFill>
            <a:srgbClr val="0F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2" y="6376665"/>
            <a:ext cx="459463" cy="469067"/>
          </a:xfrm>
          <a:prstGeom prst="rect">
            <a:avLst/>
          </a:prstGeom>
        </p:spPr>
      </p:pic>
      <p:pic>
        <p:nvPicPr>
          <p:cNvPr id="8" name="Immagine 7" descr="logo_white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10" y="6502433"/>
            <a:ext cx="2395665" cy="220877"/>
          </a:xfrm>
          <a:prstGeom prst="rect">
            <a:avLst/>
          </a:prstGeom>
        </p:spPr>
      </p:pic>
      <p:sp>
        <p:nvSpPr>
          <p:cNvPr id="9" name="CasellaDiTesto 1"/>
          <p:cNvSpPr txBox="1">
            <a:spLocks noChangeArrowheads="1"/>
          </p:cNvSpPr>
          <p:nvPr/>
        </p:nvSpPr>
        <p:spPr bwMode="auto">
          <a:xfrm>
            <a:off x="3" y="34444"/>
            <a:ext cx="467710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eaLnBrk="1" hangingPunct="1"/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NTRODUCTION TO THE PROBLEM</a:t>
            </a:r>
            <a:endParaRPr lang="it-IT" b="1">
              <a:solidFill>
                <a:srgbClr val="0F40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5ED361C7-00EA-7A2A-870E-3143139B7F11}"/>
              </a:ext>
            </a:extLst>
          </p:cNvPr>
          <p:cNvCxnSpPr/>
          <p:nvPr/>
        </p:nvCxnSpPr>
        <p:spPr>
          <a:xfrm>
            <a:off x="55098" y="578460"/>
            <a:ext cx="4654921" cy="0"/>
          </a:xfrm>
          <a:prstGeom prst="line">
            <a:avLst/>
          </a:prstGeom>
          <a:ln>
            <a:solidFill>
              <a:srgbClr val="0F406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1" name="Picture 9">
            <a:extLst>
              <a:ext uri="{FF2B5EF4-FFF2-40B4-BE49-F238E27FC236}">
                <a16:creationId xmlns:a16="http://schemas.microsoft.com/office/drawing/2014/main" id="{60BD2262-6EB4-A193-A31C-D9D01650E5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014298" y="573856"/>
            <a:ext cx="4775766" cy="4946633"/>
          </a:xfrm>
          <a:prstGeom prst="rect">
            <a:avLst/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06B09E82-DBD7-5658-C794-EFBD2E12723D}"/>
              </a:ext>
            </a:extLst>
          </p:cNvPr>
          <p:cNvSpPr txBox="1"/>
          <p:nvPr/>
        </p:nvSpPr>
        <p:spPr>
          <a:xfrm>
            <a:off x="55096" y="751655"/>
            <a:ext cx="46538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Accurate </a:t>
            </a:r>
            <a:r>
              <a:rPr lang="en-US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material classification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is critical in engineering and </a:t>
            </a:r>
            <a:r>
              <a:rPr lang="en-US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biomedical fields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758EA61-E316-E783-66C7-469856C30EBA}"/>
              </a:ext>
            </a:extLst>
          </p:cNvPr>
          <p:cNvSpPr txBox="1"/>
          <p:nvPr/>
        </p:nvSpPr>
        <p:spPr>
          <a:xfrm>
            <a:off x="55097" y="2808157"/>
            <a:ext cx="29479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Traditional methods (e.g., visual inspection, destructive testing) are often </a:t>
            </a:r>
            <a:r>
              <a:rPr lang="en-US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impractical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D4F82339-612D-B6A8-7334-0FC599C6A114}"/>
              </a:ext>
            </a:extLst>
          </p:cNvPr>
          <p:cNvCxnSpPr>
            <a:cxnSpLocks/>
          </p:cNvCxnSpPr>
          <p:nvPr/>
        </p:nvCxnSpPr>
        <p:spPr>
          <a:xfrm flipH="1">
            <a:off x="1694426" y="1485901"/>
            <a:ext cx="8497" cy="1206131"/>
          </a:xfrm>
          <a:prstGeom prst="straightConnector1">
            <a:avLst/>
          </a:prstGeom>
          <a:ln>
            <a:solidFill>
              <a:srgbClr val="0F406B"/>
            </a:solidFill>
            <a:tailEnd type="triangle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1" name="Elemento grafico 10" descr="Martello1 con riempimento a tinta unita">
            <a:extLst>
              <a:ext uri="{FF2B5EF4-FFF2-40B4-BE49-F238E27FC236}">
                <a16:creationId xmlns:a16="http://schemas.microsoft.com/office/drawing/2014/main" id="{BFDC7C31-2F45-F4B1-808E-D208C8A00B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39507" y="2951119"/>
            <a:ext cx="914400" cy="914400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D6E9BD4-9DD9-42AC-177A-6C2E39373648}"/>
              </a:ext>
            </a:extLst>
          </p:cNvPr>
          <p:cNvSpPr txBox="1"/>
          <p:nvPr/>
        </p:nvSpPr>
        <p:spPr>
          <a:xfrm>
            <a:off x="55096" y="5087246"/>
            <a:ext cx="5469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: Develop a </a:t>
            </a:r>
            <a:r>
              <a:rPr lang="en-US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non-destructive, automated classification</a:t>
            </a:r>
            <a:r>
              <a:rPr lang="en-US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method using machine learning.</a:t>
            </a:r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AE33088A-46FB-5684-A71C-2F3C411E8314}"/>
              </a:ext>
            </a:extLst>
          </p:cNvPr>
          <p:cNvCxnSpPr>
            <a:cxnSpLocks/>
          </p:cNvCxnSpPr>
          <p:nvPr/>
        </p:nvCxnSpPr>
        <p:spPr>
          <a:xfrm>
            <a:off x="1702919" y="4132219"/>
            <a:ext cx="0" cy="820783"/>
          </a:xfrm>
          <a:prstGeom prst="straightConnector1">
            <a:avLst/>
          </a:prstGeom>
          <a:ln>
            <a:solidFill>
              <a:srgbClr val="0F406B"/>
            </a:solidFill>
            <a:tailEnd type="triangle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Parentesi graffa aperta 19">
            <a:extLst>
              <a:ext uri="{FF2B5EF4-FFF2-40B4-BE49-F238E27FC236}">
                <a16:creationId xmlns:a16="http://schemas.microsoft.com/office/drawing/2014/main" id="{0DF068B2-008F-0A73-0A03-B93863115712}"/>
              </a:ext>
            </a:extLst>
          </p:cNvPr>
          <p:cNvSpPr/>
          <p:nvPr/>
        </p:nvSpPr>
        <p:spPr>
          <a:xfrm>
            <a:off x="5270442" y="1074819"/>
            <a:ext cx="374337" cy="5030709"/>
          </a:xfrm>
          <a:prstGeom prst="leftBrace">
            <a:avLst>
              <a:gd name="adj1" fmla="val 87884"/>
              <a:gd name="adj2" fmla="val 86921"/>
            </a:avLst>
          </a:prstGeom>
          <a:noFill/>
          <a:ln w="38100">
            <a:solidFill>
              <a:srgbClr val="0F40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F76B533E-A8A8-265F-3F1B-90228B052C01}"/>
              </a:ext>
            </a:extLst>
          </p:cNvPr>
          <p:cNvSpPr txBox="1"/>
          <p:nvPr/>
        </p:nvSpPr>
        <p:spPr>
          <a:xfrm>
            <a:off x="5644777" y="1074816"/>
            <a:ext cx="2128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i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Challenges: </a:t>
            </a: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9052244A-A261-55DD-FD28-AD0FA07E3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4778" y="1635087"/>
            <a:ext cx="2790825" cy="1200329"/>
          </a:xfrm>
          <a:prstGeom prst="rect">
            <a:avLst/>
          </a:prstGeom>
          <a:solidFill>
            <a:srgbClr val="0F406B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err="1">
                <a:solidFill>
                  <a:schemeClr val="bg1"/>
                </a:solidFill>
                <a:latin typeface="Arial" panose="020B0604020202020204" pitchFamily="34" charset="0"/>
              </a:rPr>
              <a:t>Extracting</a:t>
            </a:r>
            <a:r>
              <a:rPr lang="it-IT" altLang="it-IT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it-IT" altLang="it-IT" err="1">
                <a:solidFill>
                  <a:schemeClr val="bg1"/>
                </a:solidFill>
                <a:latin typeface="Arial" panose="020B0604020202020204" pitchFamily="34" charset="0"/>
              </a:rPr>
              <a:t>relevant</a:t>
            </a:r>
            <a:r>
              <a:rPr lang="it-IT" altLang="it-IT">
                <a:solidFill>
                  <a:schemeClr val="bg1"/>
                </a:solidFill>
                <a:latin typeface="Arial" panose="020B0604020202020204" pitchFamily="34" charset="0"/>
              </a:rPr>
              <a:t> features from </a:t>
            </a:r>
            <a:r>
              <a:rPr lang="it-IT" altLang="it-IT" b="1" err="1">
                <a:solidFill>
                  <a:schemeClr val="bg1"/>
                </a:solidFill>
                <a:latin typeface="Arial" panose="020B0604020202020204" pitchFamily="34" charset="0"/>
              </a:rPr>
              <a:t>heterogeneous</a:t>
            </a:r>
            <a:r>
              <a:rPr lang="it-IT" altLang="it-IT" b="1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it-IT" altLang="it-IT" b="1" err="1">
                <a:solidFill>
                  <a:schemeClr val="bg1"/>
                </a:solidFill>
                <a:latin typeface="Arial" panose="020B0604020202020204" pitchFamily="34" charset="0"/>
              </a:rPr>
              <a:t>sensor</a:t>
            </a:r>
            <a:r>
              <a:rPr lang="it-IT" altLang="it-IT" b="1">
                <a:solidFill>
                  <a:schemeClr val="bg1"/>
                </a:solidFill>
                <a:latin typeface="Arial" panose="020B0604020202020204" pitchFamily="34" charset="0"/>
              </a:rPr>
              <a:t> data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F3AAB583-B2BC-5624-3514-1C3D04989493}"/>
              </a:ext>
            </a:extLst>
          </p:cNvPr>
          <p:cNvSpPr txBox="1"/>
          <p:nvPr/>
        </p:nvSpPr>
        <p:spPr>
          <a:xfrm>
            <a:off x="5663613" y="3229922"/>
            <a:ext cx="2794588" cy="923330"/>
          </a:xfrm>
          <a:prstGeom prst="rect">
            <a:avLst/>
          </a:prstGeom>
          <a:solidFill>
            <a:srgbClr val="0F406B"/>
          </a:solidFill>
        </p:spPr>
        <p:txBody>
          <a:bodyPr wrap="square"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>
                <a:solidFill>
                  <a:schemeClr val="bg1"/>
                </a:solidFill>
                <a:latin typeface="Arial" panose="020B0604020202020204" pitchFamily="34" charset="0"/>
              </a:rPr>
              <a:t>Handling </a:t>
            </a:r>
            <a:r>
              <a:rPr lang="it-IT" altLang="it-IT" b="1" err="1">
                <a:solidFill>
                  <a:schemeClr val="bg1"/>
                </a:solidFill>
                <a:latin typeface="Arial" panose="020B0604020202020204" pitchFamily="34" charset="0"/>
              </a:rPr>
              <a:t>boundary</a:t>
            </a:r>
            <a:r>
              <a:rPr lang="it-IT" altLang="it-IT" b="1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it-IT" altLang="it-IT" b="1" err="1">
                <a:solidFill>
                  <a:schemeClr val="bg1"/>
                </a:solidFill>
                <a:latin typeface="Arial" panose="020B0604020202020204" pitchFamily="34" charset="0"/>
              </a:rPr>
              <a:t>effects</a:t>
            </a:r>
            <a:r>
              <a:rPr lang="it-IT" altLang="it-IT">
                <a:solidFill>
                  <a:schemeClr val="bg1"/>
                </a:solidFill>
                <a:latin typeface="Arial" panose="020B0604020202020204" pitchFamily="34" charset="0"/>
              </a:rPr>
              <a:t> and </a:t>
            </a:r>
            <a:r>
              <a:rPr lang="it-IT" altLang="it-IT" b="1" err="1">
                <a:solidFill>
                  <a:schemeClr val="bg1"/>
                </a:solidFill>
                <a:latin typeface="Arial" panose="020B0604020202020204" pitchFamily="34" charset="0"/>
              </a:rPr>
              <a:t>experimental</a:t>
            </a:r>
            <a:r>
              <a:rPr lang="it-IT" altLang="it-IT" b="1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it-IT" altLang="it-IT" b="1" err="1">
                <a:solidFill>
                  <a:schemeClr val="bg1"/>
                </a:solidFill>
                <a:latin typeface="Arial" panose="020B0604020202020204" pitchFamily="34" charset="0"/>
              </a:rPr>
              <a:t>variability</a:t>
            </a:r>
            <a:endParaRPr lang="it-IT" altLang="it-IT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29" name="Elemento grafico 28" descr="Puzzle con riempimento a tinta unita">
            <a:extLst>
              <a:ext uri="{FF2B5EF4-FFF2-40B4-BE49-F238E27FC236}">
                <a16:creationId xmlns:a16="http://schemas.microsoft.com/office/drawing/2014/main" id="{62E64275-92B7-5E27-5A3E-713FDEC5CB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79638" y="4547759"/>
            <a:ext cx="1522788" cy="1522788"/>
          </a:xfrm>
          <a:prstGeom prst="rect">
            <a:avLst/>
          </a:prstGeom>
        </p:spPr>
      </p:pic>
      <p:sp>
        <p:nvSpPr>
          <p:cNvPr id="37" name="Rectangle 3">
            <a:extLst>
              <a:ext uri="{FF2B5EF4-FFF2-40B4-BE49-F238E27FC236}">
                <a16:creationId xmlns:a16="http://schemas.microsoft.com/office/drawing/2014/main" id="{FB0793E8-F21D-094B-B068-E45480C2E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8336" y="2149635"/>
            <a:ext cx="4066855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44" indent="-285744" defTabSz="914377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Custom</a:t>
            </a:r>
            <a:r>
              <a:rPr lang="it-IT" altLang="it-IT">
                <a:solidFill>
                  <a:srgbClr val="0F406B"/>
                </a:solidFill>
                <a:latin typeface="Arial" panose="020B0604020202020204" pitchFamily="34" charset="0"/>
              </a:rPr>
              <a:t> </a:t>
            </a:r>
            <a:r>
              <a:rPr lang="it-IT" altLang="it-IT" b="1" err="1">
                <a:solidFill>
                  <a:srgbClr val="0F406B"/>
                </a:solidFill>
                <a:latin typeface="Arial" panose="020B0604020202020204" pitchFamily="34" charset="0"/>
              </a:rPr>
              <a:t>mechatronic</a:t>
            </a: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 </a:t>
            </a:r>
            <a:r>
              <a:rPr lang="it-IT" altLang="it-IT" b="1" err="1">
                <a:solidFill>
                  <a:srgbClr val="0F406B"/>
                </a:solidFill>
                <a:latin typeface="Arial" panose="020B0604020202020204" pitchFamily="34" charset="0"/>
              </a:rPr>
              <a:t>platform</a:t>
            </a: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 </a:t>
            </a:r>
            <a:r>
              <a:rPr lang="it-IT" altLang="it-IT" err="1">
                <a:latin typeface="Arial" panose="020B0604020202020204" pitchFamily="34" charset="0"/>
              </a:rPr>
              <a:t>developed</a:t>
            </a:r>
            <a:r>
              <a:rPr lang="it-IT" altLang="it-IT">
                <a:latin typeface="Arial" panose="020B0604020202020204" pitchFamily="34" charset="0"/>
              </a:rPr>
              <a:t> for precise </a:t>
            </a:r>
            <a:r>
              <a:rPr lang="it-IT" altLang="it-IT" err="1">
                <a:latin typeface="Arial" panose="020B0604020202020204" pitchFamily="34" charset="0"/>
              </a:rPr>
              <a:t>material</a:t>
            </a:r>
            <a:r>
              <a:rPr lang="it-IT" altLang="it-IT">
                <a:latin typeface="Arial" panose="020B0604020202020204" pitchFamily="34" charset="0"/>
              </a:rPr>
              <a:t> testing.</a:t>
            </a:r>
          </a:p>
          <a:p>
            <a:pPr marL="285744" indent="-285744" defTabSz="914377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Tri-</a:t>
            </a:r>
            <a:r>
              <a:rPr lang="it-IT" altLang="it-IT" b="1" err="1">
                <a:solidFill>
                  <a:srgbClr val="0F406B"/>
                </a:solidFill>
                <a:latin typeface="Arial" panose="020B0604020202020204" pitchFamily="34" charset="0"/>
              </a:rPr>
              <a:t>axial</a:t>
            </a: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 </a:t>
            </a:r>
            <a:r>
              <a:rPr lang="it-IT" altLang="it-IT" b="1" err="1">
                <a:solidFill>
                  <a:srgbClr val="0F406B"/>
                </a:solidFill>
                <a:latin typeface="Arial" panose="020B0604020202020204" pitchFamily="34" charset="0"/>
              </a:rPr>
              <a:t>motorized</a:t>
            </a: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 stage.</a:t>
            </a:r>
            <a:endParaRPr lang="it-IT" altLang="it-IT">
              <a:solidFill>
                <a:srgbClr val="0F406B"/>
              </a:solidFill>
              <a:latin typeface="Arial" panose="020B0604020202020204" pitchFamily="34" charset="0"/>
            </a:endParaRPr>
          </a:p>
          <a:p>
            <a:pPr marL="285744" indent="-285744" defTabSz="914377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Linear </a:t>
            </a:r>
            <a:r>
              <a:rPr lang="it-IT" altLang="it-IT" b="1" err="1">
                <a:solidFill>
                  <a:srgbClr val="0F406B"/>
                </a:solidFill>
                <a:latin typeface="Arial" panose="020B0604020202020204" pitchFamily="34" charset="0"/>
              </a:rPr>
              <a:t>actuator</a:t>
            </a:r>
            <a:r>
              <a:rPr lang="it-IT" altLang="it-IT">
                <a:solidFill>
                  <a:srgbClr val="0F406B"/>
                </a:solidFill>
                <a:latin typeface="Arial" panose="020B0604020202020204" pitchFamily="34" charset="0"/>
              </a:rPr>
              <a:t> </a:t>
            </a:r>
            <a:r>
              <a:rPr lang="it-IT" altLang="it-IT">
                <a:latin typeface="Arial" panose="020B0604020202020204" pitchFamily="34" charset="0"/>
              </a:rPr>
              <a:t>for </a:t>
            </a:r>
            <a:r>
              <a:rPr lang="it-IT" altLang="it-IT" err="1">
                <a:latin typeface="Arial" panose="020B0604020202020204" pitchFamily="34" charset="0"/>
              </a:rPr>
              <a:t>controlled</a:t>
            </a:r>
            <a:r>
              <a:rPr lang="it-IT" altLang="it-IT">
                <a:latin typeface="Arial" panose="020B0604020202020204" pitchFamily="34" charset="0"/>
              </a:rPr>
              <a:t> interaction</a:t>
            </a:r>
          </a:p>
          <a:p>
            <a:pPr marL="285744" indent="-285744" defTabSz="914377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High-</a:t>
            </a:r>
            <a:r>
              <a:rPr lang="it-IT" altLang="it-IT" b="1" err="1">
                <a:solidFill>
                  <a:srgbClr val="0F406B"/>
                </a:solidFill>
                <a:latin typeface="Arial" panose="020B0604020202020204" pitchFamily="34" charset="0"/>
              </a:rPr>
              <a:t>precision</a:t>
            </a: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 load </a:t>
            </a:r>
            <a:r>
              <a:rPr lang="it-IT" altLang="it-IT" b="1" err="1">
                <a:solidFill>
                  <a:srgbClr val="0F406B"/>
                </a:solidFill>
                <a:latin typeface="Arial" panose="020B0604020202020204" pitchFamily="34" charset="0"/>
              </a:rPr>
              <a:t>cell</a:t>
            </a:r>
            <a:r>
              <a:rPr lang="it-IT" altLang="it-IT">
                <a:solidFill>
                  <a:srgbClr val="0F406B"/>
                </a:solidFill>
                <a:latin typeface="Arial" panose="020B0604020202020204" pitchFamily="34" charset="0"/>
              </a:rPr>
              <a:t> </a:t>
            </a:r>
            <a:r>
              <a:rPr lang="it-IT" altLang="it-IT">
                <a:latin typeface="Arial" panose="020B0604020202020204" pitchFamily="34" charset="0"/>
              </a:rPr>
              <a:t>for sensitive force </a:t>
            </a:r>
            <a:r>
              <a:rPr lang="it-IT" altLang="it-IT" err="1">
                <a:latin typeface="Arial" panose="020B0604020202020204" pitchFamily="34" charset="0"/>
              </a:rPr>
              <a:t>measurement</a:t>
            </a:r>
            <a:endParaRPr lang="it-IT" altLang="it-IT">
              <a:latin typeface="Arial" panose="020B0604020202020204" pitchFamily="34" charset="0"/>
            </a:endParaRP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9197AAD7-4C38-6D44-49A3-6FE8C2FFFB9B}"/>
              </a:ext>
            </a:extLst>
          </p:cNvPr>
          <p:cNvGrpSpPr/>
          <p:nvPr/>
        </p:nvGrpSpPr>
        <p:grpSpPr>
          <a:xfrm>
            <a:off x="9777023" y="1485899"/>
            <a:ext cx="3529480" cy="553998"/>
            <a:chOff x="15002" y="2101018"/>
            <a:chExt cx="4246903" cy="517108"/>
          </a:xfrm>
        </p:grpSpPr>
        <p:sp>
          <p:nvSpPr>
            <p:cNvPr id="4" name="CasellaDiTesto 1">
              <a:extLst>
                <a:ext uri="{FF2B5EF4-FFF2-40B4-BE49-F238E27FC236}">
                  <a16:creationId xmlns:a16="http://schemas.microsoft.com/office/drawing/2014/main" id="{EB5A0CDA-66EC-92BD-96E3-43094A6FFC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02" y="2101018"/>
              <a:ext cx="4246903" cy="517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1pPr>
              <a:lvl2pPr marL="742950" indent="-285750" eaLnBrk="0" hangingPunct="0"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2pPr>
              <a:lvl3pPr marL="1143000" indent="-228600" eaLnBrk="0" hangingPunct="0"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3pPr>
              <a:lvl4pPr marL="1600200" indent="-228600" eaLnBrk="0" hangingPunct="0"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4pPr>
              <a:lvl5pPr marL="2057400" indent="-228600" eaLnBrk="0" hangingPunct="0"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9pPr>
            </a:lstStyle>
            <a:p>
              <a:pPr eaLnBrk="1" hangingPunct="1"/>
              <a:r>
                <a:rPr lang="it-IT" b="1">
                  <a:solidFill>
                    <a:srgbClr val="0F40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it-IT" sz="2000" b="1">
                  <a:solidFill>
                    <a:srgbClr val="0F40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ACHINE</a:t>
              </a:r>
              <a:r>
                <a:rPr lang="it-IT" b="1">
                  <a:solidFill>
                    <a:srgbClr val="0F40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it-IT" sz="2000" b="1">
                  <a:solidFill>
                    <a:srgbClr val="0F40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USED</a:t>
              </a:r>
              <a:endPara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" name="Connettore diritto 9">
              <a:extLst>
                <a:ext uri="{FF2B5EF4-FFF2-40B4-BE49-F238E27FC236}">
                  <a16:creationId xmlns:a16="http://schemas.microsoft.com/office/drawing/2014/main" id="{F5346AD7-E392-BE55-36AE-572D72D9D390}"/>
                </a:ext>
              </a:extLst>
            </p:cNvPr>
            <p:cNvCxnSpPr>
              <a:cxnSpLocks/>
            </p:cNvCxnSpPr>
            <p:nvPr/>
          </p:nvCxnSpPr>
          <p:spPr>
            <a:xfrm>
              <a:off x="126606" y="2564104"/>
              <a:ext cx="2552852" cy="0"/>
            </a:xfrm>
            <a:prstGeom prst="line">
              <a:avLst/>
            </a:prstGeom>
            <a:ln>
              <a:solidFill>
                <a:srgbClr val="0F406B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8674184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4609A-2A17-3BD9-530C-814C6B691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A5C87161-127E-C137-490F-19F8DF7FCA7B}"/>
              </a:ext>
            </a:extLst>
          </p:cNvPr>
          <p:cNvSpPr/>
          <p:nvPr/>
        </p:nvSpPr>
        <p:spPr>
          <a:xfrm>
            <a:off x="-238531" y="6376664"/>
            <a:ext cx="8472199" cy="481339"/>
          </a:xfrm>
          <a:prstGeom prst="parallelogram">
            <a:avLst/>
          </a:prstGeom>
          <a:solidFill>
            <a:srgbClr val="0F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939028B8-2616-07D7-4187-F6CA516C1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2" y="6376665"/>
            <a:ext cx="459463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988846CA-E4FB-0F21-1C08-FCA3BDC349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10" y="6502433"/>
            <a:ext cx="2395665" cy="2208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099581-88EF-3DF4-D25B-51F9CDF70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255" y="573859"/>
            <a:ext cx="4775767" cy="4946633"/>
          </a:xfrm>
          <a:prstGeom prst="rect">
            <a:avLst/>
          </a:prstGeom>
        </p:spPr>
      </p:pic>
      <p:grpSp>
        <p:nvGrpSpPr>
          <p:cNvPr id="27" name="Gruppo 26">
            <a:extLst>
              <a:ext uri="{FF2B5EF4-FFF2-40B4-BE49-F238E27FC236}">
                <a16:creationId xmlns:a16="http://schemas.microsoft.com/office/drawing/2014/main" id="{668B418B-3C39-81EB-5738-CC6F36BDC03E}"/>
              </a:ext>
            </a:extLst>
          </p:cNvPr>
          <p:cNvGrpSpPr/>
          <p:nvPr/>
        </p:nvGrpSpPr>
        <p:grpSpPr>
          <a:xfrm>
            <a:off x="5063336" y="1485899"/>
            <a:ext cx="3529480" cy="553998"/>
            <a:chOff x="15002" y="2101018"/>
            <a:chExt cx="4246903" cy="517108"/>
          </a:xfrm>
        </p:grpSpPr>
        <p:sp>
          <p:nvSpPr>
            <p:cNvPr id="20" name="CasellaDiTesto 1">
              <a:extLst>
                <a:ext uri="{FF2B5EF4-FFF2-40B4-BE49-F238E27FC236}">
                  <a16:creationId xmlns:a16="http://schemas.microsoft.com/office/drawing/2014/main" id="{5E05A9D3-A68B-3CC3-679C-6D65A9A05E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02" y="2101018"/>
              <a:ext cx="4246903" cy="517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1pPr>
              <a:lvl2pPr marL="742950" indent="-285750" eaLnBrk="0" hangingPunct="0"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2pPr>
              <a:lvl3pPr marL="1143000" indent="-228600" eaLnBrk="0" hangingPunct="0"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3pPr>
              <a:lvl4pPr marL="1600200" indent="-228600" eaLnBrk="0" hangingPunct="0"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4pPr>
              <a:lvl5pPr marL="2057400" indent="-228600" eaLnBrk="0" hangingPunct="0"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9pPr>
            </a:lstStyle>
            <a:p>
              <a:pPr eaLnBrk="1" hangingPunct="1"/>
              <a:r>
                <a:rPr lang="it-IT" b="1">
                  <a:solidFill>
                    <a:srgbClr val="0F40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it-IT" sz="2000" b="1">
                  <a:solidFill>
                    <a:srgbClr val="0F40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ACHINE</a:t>
              </a:r>
              <a:r>
                <a:rPr lang="it-IT" b="1">
                  <a:solidFill>
                    <a:srgbClr val="0F40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it-IT" sz="2000" b="1">
                  <a:solidFill>
                    <a:srgbClr val="0F40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USED</a:t>
              </a:r>
              <a:endPara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" name="Connettore diritto 21">
              <a:extLst>
                <a:ext uri="{FF2B5EF4-FFF2-40B4-BE49-F238E27FC236}">
                  <a16:creationId xmlns:a16="http://schemas.microsoft.com/office/drawing/2014/main" id="{CC31C040-51F6-1EB7-18E5-B9C116CEB240}"/>
                </a:ext>
              </a:extLst>
            </p:cNvPr>
            <p:cNvCxnSpPr>
              <a:cxnSpLocks/>
            </p:cNvCxnSpPr>
            <p:nvPr/>
          </p:nvCxnSpPr>
          <p:spPr>
            <a:xfrm>
              <a:off x="126606" y="2564104"/>
              <a:ext cx="2552852" cy="0"/>
            </a:xfrm>
            <a:prstGeom prst="line">
              <a:avLst/>
            </a:prstGeom>
            <a:ln>
              <a:solidFill>
                <a:srgbClr val="0F406B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82B50221-3DA5-3C7D-47C4-BA0E9C9AB513}"/>
              </a:ext>
            </a:extLst>
          </p:cNvPr>
          <p:cNvSpPr txBox="1"/>
          <p:nvPr/>
        </p:nvSpPr>
        <p:spPr>
          <a:xfrm>
            <a:off x="10616825" y="1074816"/>
            <a:ext cx="2128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i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Challenges: </a:t>
            </a: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90BDA57D-236F-8156-78FE-35EF5E0F3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16825" y="1635082"/>
            <a:ext cx="2790825" cy="1200329"/>
          </a:xfrm>
          <a:prstGeom prst="rect">
            <a:avLst/>
          </a:prstGeom>
          <a:solidFill>
            <a:srgbClr val="0F406B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err="1">
                <a:solidFill>
                  <a:schemeClr val="bg1"/>
                </a:solidFill>
                <a:latin typeface="Arial" panose="020B0604020202020204" pitchFamily="34" charset="0"/>
              </a:rPr>
              <a:t>Extracting</a:t>
            </a:r>
            <a:r>
              <a:rPr lang="it-IT" altLang="it-IT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it-IT" altLang="it-IT" err="1">
                <a:solidFill>
                  <a:schemeClr val="bg1"/>
                </a:solidFill>
                <a:latin typeface="Arial" panose="020B0604020202020204" pitchFamily="34" charset="0"/>
              </a:rPr>
              <a:t>relevant</a:t>
            </a:r>
            <a:r>
              <a:rPr lang="it-IT" altLang="it-IT">
                <a:solidFill>
                  <a:schemeClr val="bg1"/>
                </a:solidFill>
                <a:latin typeface="Arial" panose="020B0604020202020204" pitchFamily="34" charset="0"/>
              </a:rPr>
              <a:t> features from </a:t>
            </a:r>
            <a:r>
              <a:rPr lang="it-IT" altLang="it-IT" b="1" err="1">
                <a:solidFill>
                  <a:schemeClr val="bg1"/>
                </a:solidFill>
                <a:latin typeface="Arial" panose="020B0604020202020204" pitchFamily="34" charset="0"/>
              </a:rPr>
              <a:t>heterogeneous</a:t>
            </a:r>
            <a:r>
              <a:rPr lang="it-IT" altLang="it-IT" b="1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it-IT" altLang="it-IT" b="1" err="1">
                <a:solidFill>
                  <a:schemeClr val="bg1"/>
                </a:solidFill>
                <a:latin typeface="Arial" panose="020B0604020202020204" pitchFamily="34" charset="0"/>
              </a:rPr>
              <a:t>sensor</a:t>
            </a:r>
            <a:r>
              <a:rPr lang="it-IT" altLang="it-IT" b="1">
                <a:solidFill>
                  <a:schemeClr val="bg1"/>
                </a:solidFill>
                <a:latin typeface="Arial" panose="020B0604020202020204" pitchFamily="34" charset="0"/>
              </a:rPr>
              <a:t> data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8369EA18-5E43-7F0A-B820-C7BC0DC5AFB1}"/>
              </a:ext>
            </a:extLst>
          </p:cNvPr>
          <p:cNvSpPr txBox="1"/>
          <p:nvPr/>
        </p:nvSpPr>
        <p:spPr>
          <a:xfrm>
            <a:off x="10635662" y="3229920"/>
            <a:ext cx="2794588" cy="923330"/>
          </a:xfrm>
          <a:prstGeom prst="rect">
            <a:avLst/>
          </a:prstGeom>
          <a:solidFill>
            <a:srgbClr val="0F406B"/>
          </a:solidFill>
        </p:spPr>
        <p:txBody>
          <a:bodyPr wrap="square"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>
                <a:solidFill>
                  <a:schemeClr val="bg1"/>
                </a:solidFill>
                <a:latin typeface="Arial" panose="020B0604020202020204" pitchFamily="34" charset="0"/>
              </a:rPr>
              <a:t>Handling </a:t>
            </a:r>
            <a:r>
              <a:rPr lang="it-IT" altLang="it-IT" b="1" err="1">
                <a:solidFill>
                  <a:schemeClr val="bg1"/>
                </a:solidFill>
                <a:latin typeface="Arial" panose="020B0604020202020204" pitchFamily="34" charset="0"/>
              </a:rPr>
              <a:t>boundary</a:t>
            </a:r>
            <a:r>
              <a:rPr lang="it-IT" altLang="it-IT" b="1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it-IT" altLang="it-IT" b="1" err="1">
                <a:solidFill>
                  <a:schemeClr val="bg1"/>
                </a:solidFill>
                <a:latin typeface="Arial" panose="020B0604020202020204" pitchFamily="34" charset="0"/>
              </a:rPr>
              <a:t>effects</a:t>
            </a:r>
            <a:r>
              <a:rPr lang="it-IT" altLang="it-IT">
                <a:solidFill>
                  <a:schemeClr val="bg1"/>
                </a:solidFill>
                <a:latin typeface="Arial" panose="020B0604020202020204" pitchFamily="34" charset="0"/>
              </a:rPr>
              <a:t> and </a:t>
            </a:r>
            <a:r>
              <a:rPr lang="it-IT" altLang="it-IT" b="1" err="1">
                <a:solidFill>
                  <a:schemeClr val="bg1"/>
                </a:solidFill>
                <a:latin typeface="Arial" panose="020B0604020202020204" pitchFamily="34" charset="0"/>
              </a:rPr>
              <a:t>experimental</a:t>
            </a:r>
            <a:r>
              <a:rPr lang="it-IT" altLang="it-IT" b="1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it-IT" altLang="it-IT" b="1" err="1">
                <a:solidFill>
                  <a:schemeClr val="bg1"/>
                </a:solidFill>
                <a:latin typeface="Arial" panose="020B0604020202020204" pitchFamily="34" charset="0"/>
              </a:rPr>
              <a:t>variability</a:t>
            </a:r>
            <a:endParaRPr lang="it-IT" altLang="it-IT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23" name="Elemento grafico 22" descr="Puzzle con riempimento a tinta unita">
            <a:extLst>
              <a:ext uri="{FF2B5EF4-FFF2-40B4-BE49-F238E27FC236}">
                <a16:creationId xmlns:a16="http://schemas.microsoft.com/office/drawing/2014/main" id="{A0D856FC-3F44-9478-64D4-3F0132AE48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51687" y="4547759"/>
            <a:ext cx="1522788" cy="1522788"/>
          </a:xfrm>
          <a:prstGeom prst="rect">
            <a:avLst/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3C56547E-2C7D-4E47-A184-095B470F907C}"/>
              </a:ext>
            </a:extLst>
          </p:cNvPr>
          <p:cNvSpPr txBox="1"/>
          <p:nvPr/>
        </p:nvSpPr>
        <p:spPr>
          <a:xfrm>
            <a:off x="-5307154" y="751651"/>
            <a:ext cx="46538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Accurate </a:t>
            </a:r>
            <a:r>
              <a:rPr lang="en-US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material classification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is critical in engineering and </a:t>
            </a:r>
            <a:r>
              <a:rPr lang="en-US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biomedical fields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5BEF9DE7-B56F-9D19-FA2B-5763338F210F}"/>
              </a:ext>
            </a:extLst>
          </p:cNvPr>
          <p:cNvSpPr txBox="1"/>
          <p:nvPr/>
        </p:nvSpPr>
        <p:spPr>
          <a:xfrm>
            <a:off x="-5307153" y="2808154"/>
            <a:ext cx="29479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Traditional methods (e.g., visual inspection, destructive testing) are often </a:t>
            </a:r>
            <a:r>
              <a:rPr lang="en-US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impractical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6678BAE5-D7EE-ECF5-CE80-FAAB897D1867}"/>
              </a:ext>
            </a:extLst>
          </p:cNvPr>
          <p:cNvCxnSpPr>
            <a:cxnSpLocks/>
          </p:cNvCxnSpPr>
          <p:nvPr/>
        </p:nvCxnSpPr>
        <p:spPr>
          <a:xfrm flipH="1">
            <a:off x="-3667825" y="1485900"/>
            <a:ext cx="8497" cy="1206130"/>
          </a:xfrm>
          <a:prstGeom prst="straightConnector1">
            <a:avLst/>
          </a:prstGeom>
          <a:ln>
            <a:solidFill>
              <a:srgbClr val="0F406B"/>
            </a:solidFill>
            <a:tailEnd type="triangle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8" name="Elemento grafico 27" descr="Martello1 con riempimento a tinta unita">
            <a:extLst>
              <a:ext uri="{FF2B5EF4-FFF2-40B4-BE49-F238E27FC236}">
                <a16:creationId xmlns:a16="http://schemas.microsoft.com/office/drawing/2014/main" id="{B126174A-24B5-B916-72FF-AD6092AC98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522740" y="2951118"/>
            <a:ext cx="914400" cy="914400"/>
          </a:xfrm>
          <a:prstGeom prst="rect">
            <a:avLst/>
          </a:prstGeom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AA7C74D0-F04B-6A47-E2E2-F74B7C9D7DA4}"/>
              </a:ext>
            </a:extLst>
          </p:cNvPr>
          <p:cNvSpPr txBox="1"/>
          <p:nvPr/>
        </p:nvSpPr>
        <p:spPr>
          <a:xfrm>
            <a:off x="-5307154" y="5087243"/>
            <a:ext cx="5469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: Develop a </a:t>
            </a:r>
            <a:r>
              <a:rPr lang="en-US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non-destructive, automated classification</a:t>
            </a:r>
            <a:r>
              <a:rPr lang="en-US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method using machine learning.</a:t>
            </a:r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05E3EAA0-B338-0091-21B8-3FE75121F62E}"/>
              </a:ext>
            </a:extLst>
          </p:cNvPr>
          <p:cNvCxnSpPr>
            <a:cxnSpLocks/>
          </p:cNvCxnSpPr>
          <p:nvPr/>
        </p:nvCxnSpPr>
        <p:spPr>
          <a:xfrm>
            <a:off x="-3659328" y="4132218"/>
            <a:ext cx="0" cy="820782"/>
          </a:xfrm>
          <a:prstGeom prst="straightConnector1">
            <a:avLst/>
          </a:prstGeom>
          <a:ln>
            <a:solidFill>
              <a:srgbClr val="0F406B"/>
            </a:solidFill>
            <a:tailEnd type="triangle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Rectangle 3">
            <a:extLst>
              <a:ext uri="{FF2B5EF4-FFF2-40B4-BE49-F238E27FC236}">
                <a16:creationId xmlns:a16="http://schemas.microsoft.com/office/drawing/2014/main" id="{A2286331-F916-EC11-B692-406C030E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3339" y="2149638"/>
            <a:ext cx="4066855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44" indent="-285744" defTabSz="914377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Custom</a:t>
            </a:r>
            <a:r>
              <a:rPr lang="it-IT" altLang="it-IT">
                <a:solidFill>
                  <a:srgbClr val="0F406B"/>
                </a:solidFill>
                <a:latin typeface="Arial" panose="020B0604020202020204" pitchFamily="34" charset="0"/>
              </a:rPr>
              <a:t> </a:t>
            </a:r>
            <a:r>
              <a:rPr lang="it-IT" altLang="it-IT" b="1" err="1">
                <a:solidFill>
                  <a:srgbClr val="0F406B"/>
                </a:solidFill>
                <a:latin typeface="Arial" panose="020B0604020202020204" pitchFamily="34" charset="0"/>
              </a:rPr>
              <a:t>mechatronic</a:t>
            </a: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 </a:t>
            </a:r>
            <a:r>
              <a:rPr lang="it-IT" altLang="it-IT" b="1" err="1">
                <a:solidFill>
                  <a:srgbClr val="0F406B"/>
                </a:solidFill>
                <a:latin typeface="Arial" panose="020B0604020202020204" pitchFamily="34" charset="0"/>
              </a:rPr>
              <a:t>platform</a:t>
            </a: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 </a:t>
            </a:r>
            <a:r>
              <a:rPr lang="it-IT" altLang="it-IT" err="1">
                <a:latin typeface="Arial" panose="020B0604020202020204" pitchFamily="34" charset="0"/>
              </a:rPr>
              <a:t>developed</a:t>
            </a:r>
            <a:r>
              <a:rPr lang="it-IT" altLang="it-IT">
                <a:latin typeface="Arial" panose="020B0604020202020204" pitchFamily="34" charset="0"/>
              </a:rPr>
              <a:t> for precise </a:t>
            </a:r>
            <a:r>
              <a:rPr lang="it-IT" altLang="it-IT" err="1">
                <a:latin typeface="Arial" panose="020B0604020202020204" pitchFamily="34" charset="0"/>
              </a:rPr>
              <a:t>material</a:t>
            </a:r>
            <a:r>
              <a:rPr lang="it-IT" altLang="it-IT">
                <a:latin typeface="Arial" panose="020B0604020202020204" pitchFamily="34" charset="0"/>
              </a:rPr>
              <a:t> testing.</a:t>
            </a:r>
          </a:p>
          <a:p>
            <a:pPr marL="285744" indent="-285744" defTabSz="914377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Tri-</a:t>
            </a:r>
            <a:r>
              <a:rPr lang="it-IT" altLang="it-IT" b="1" err="1">
                <a:solidFill>
                  <a:srgbClr val="0F406B"/>
                </a:solidFill>
                <a:latin typeface="Arial" panose="020B0604020202020204" pitchFamily="34" charset="0"/>
              </a:rPr>
              <a:t>axial</a:t>
            </a: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 </a:t>
            </a:r>
            <a:r>
              <a:rPr lang="it-IT" altLang="it-IT" b="1" err="1">
                <a:solidFill>
                  <a:srgbClr val="0F406B"/>
                </a:solidFill>
                <a:latin typeface="Arial" panose="020B0604020202020204" pitchFamily="34" charset="0"/>
              </a:rPr>
              <a:t>motorized</a:t>
            </a: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 stage.</a:t>
            </a:r>
            <a:endParaRPr lang="it-IT" altLang="it-IT">
              <a:solidFill>
                <a:srgbClr val="0F406B"/>
              </a:solidFill>
              <a:latin typeface="Arial" panose="020B0604020202020204" pitchFamily="34" charset="0"/>
            </a:endParaRPr>
          </a:p>
          <a:p>
            <a:pPr marL="285744" indent="-285744" defTabSz="914377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Linear </a:t>
            </a:r>
            <a:r>
              <a:rPr lang="it-IT" altLang="it-IT" b="1" err="1">
                <a:solidFill>
                  <a:srgbClr val="0F406B"/>
                </a:solidFill>
                <a:latin typeface="Arial" panose="020B0604020202020204" pitchFamily="34" charset="0"/>
              </a:rPr>
              <a:t>actuator</a:t>
            </a:r>
            <a:r>
              <a:rPr lang="it-IT" altLang="it-IT">
                <a:solidFill>
                  <a:srgbClr val="0F406B"/>
                </a:solidFill>
                <a:latin typeface="Arial" panose="020B0604020202020204" pitchFamily="34" charset="0"/>
              </a:rPr>
              <a:t> </a:t>
            </a:r>
            <a:r>
              <a:rPr lang="it-IT" altLang="it-IT">
                <a:latin typeface="Arial" panose="020B0604020202020204" pitchFamily="34" charset="0"/>
              </a:rPr>
              <a:t>for </a:t>
            </a:r>
            <a:r>
              <a:rPr lang="it-IT" altLang="it-IT" err="1">
                <a:latin typeface="Arial" panose="020B0604020202020204" pitchFamily="34" charset="0"/>
              </a:rPr>
              <a:t>controlled</a:t>
            </a:r>
            <a:r>
              <a:rPr lang="it-IT" altLang="it-IT">
                <a:latin typeface="Arial" panose="020B0604020202020204" pitchFamily="34" charset="0"/>
              </a:rPr>
              <a:t> interaction</a:t>
            </a:r>
          </a:p>
          <a:p>
            <a:pPr marL="285744" indent="-285744" defTabSz="914377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High-</a:t>
            </a:r>
            <a:r>
              <a:rPr lang="it-IT" altLang="it-IT" b="1" err="1">
                <a:solidFill>
                  <a:srgbClr val="0F406B"/>
                </a:solidFill>
                <a:latin typeface="Arial" panose="020B0604020202020204" pitchFamily="34" charset="0"/>
              </a:rPr>
              <a:t>precision</a:t>
            </a: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 load </a:t>
            </a:r>
            <a:r>
              <a:rPr lang="it-IT" altLang="it-IT" b="1" err="1">
                <a:solidFill>
                  <a:srgbClr val="0F406B"/>
                </a:solidFill>
                <a:latin typeface="Arial" panose="020B0604020202020204" pitchFamily="34" charset="0"/>
              </a:rPr>
              <a:t>cell</a:t>
            </a:r>
            <a:r>
              <a:rPr lang="it-IT" altLang="it-IT">
                <a:solidFill>
                  <a:srgbClr val="0F406B"/>
                </a:solidFill>
                <a:latin typeface="Arial" panose="020B0604020202020204" pitchFamily="34" charset="0"/>
              </a:rPr>
              <a:t> </a:t>
            </a:r>
            <a:r>
              <a:rPr lang="it-IT" altLang="it-IT">
                <a:latin typeface="Arial" panose="020B0604020202020204" pitchFamily="34" charset="0"/>
              </a:rPr>
              <a:t>for sensitive force </a:t>
            </a:r>
            <a:r>
              <a:rPr lang="it-IT" altLang="it-IT" err="1">
                <a:latin typeface="Arial" panose="020B0604020202020204" pitchFamily="34" charset="0"/>
              </a:rPr>
              <a:t>measurement</a:t>
            </a:r>
            <a:endParaRPr lang="it-IT" altLang="it-IT">
              <a:latin typeface="Arial" panose="020B0604020202020204" pitchFamily="34" charset="0"/>
            </a:endParaRPr>
          </a:p>
        </p:txBody>
      </p:sp>
      <p:pic>
        <p:nvPicPr>
          <p:cNvPr id="34" name="Immagine 33" descr="Immagine che contiene schermata, Policromia, calcolatore, design&#10;&#10;Il contenuto generato dall'IA potrebbe non essere corretto.">
            <a:extLst>
              <a:ext uri="{FF2B5EF4-FFF2-40B4-BE49-F238E27FC236}">
                <a16:creationId xmlns:a16="http://schemas.microsoft.com/office/drawing/2014/main" id="{B8F56C0E-2277-E0AA-3551-7DC4DFA0C7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5508" y="711550"/>
            <a:ext cx="5654759" cy="2062447"/>
          </a:xfrm>
          <a:prstGeom prst="rect">
            <a:avLst/>
          </a:prstGeom>
        </p:spPr>
      </p:pic>
      <p:sp>
        <p:nvSpPr>
          <p:cNvPr id="35" name="Parentesi graffa aperta 34">
            <a:extLst>
              <a:ext uri="{FF2B5EF4-FFF2-40B4-BE49-F238E27FC236}">
                <a16:creationId xmlns:a16="http://schemas.microsoft.com/office/drawing/2014/main" id="{ECF91B14-9526-EA4F-C879-C2D3751DF517}"/>
              </a:ext>
            </a:extLst>
          </p:cNvPr>
          <p:cNvSpPr/>
          <p:nvPr/>
        </p:nvSpPr>
        <p:spPr>
          <a:xfrm rot="10800000">
            <a:off x="14910267" y="946681"/>
            <a:ext cx="238042" cy="1592184"/>
          </a:xfrm>
          <a:prstGeom prst="leftBrace">
            <a:avLst>
              <a:gd name="adj1" fmla="val 26816"/>
              <a:gd name="adj2" fmla="val 48634"/>
            </a:avLst>
          </a:prstGeom>
          <a:noFill/>
          <a:ln>
            <a:solidFill>
              <a:srgbClr val="0F40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749C0BDD-5BCA-746E-F8F9-B24A2A22AB5C}"/>
              </a:ext>
            </a:extLst>
          </p:cNvPr>
          <p:cNvSpPr txBox="1"/>
          <p:nvPr/>
        </p:nvSpPr>
        <p:spPr>
          <a:xfrm>
            <a:off x="15269815" y="1328529"/>
            <a:ext cx="2392001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400" b="1" err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DamasconeA</a:t>
            </a:r>
            <a:r>
              <a:rPr lang="it-IT" sz="240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r>
              <a:rPr lang="it-IT" sz="2400" b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it-IT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err="1">
                <a:latin typeface="Arial" panose="020B0604020202020204" pitchFamily="34" charset="0"/>
                <a:cs typeface="Arial" panose="020B0604020202020204" pitchFamily="34" charset="0"/>
              </a:rPr>
              <a:t>measurments</a:t>
            </a:r>
            <a:endParaRPr lang="it-IT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2BE08C74-801D-A9DF-D62E-293C6ABA5DFC}"/>
              </a:ext>
            </a:extLst>
          </p:cNvPr>
          <p:cNvSpPr txBox="1"/>
          <p:nvPr/>
        </p:nvSpPr>
        <p:spPr>
          <a:xfrm>
            <a:off x="15641112" y="2203565"/>
            <a:ext cx="1422318" cy="369332"/>
          </a:xfrm>
          <a:prstGeom prst="rect">
            <a:avLst/>
          </a:prstGeom>
          <a:solidFill>
            <a:srgbClr val="0F406B"/>
          </a:solidFill>
        </p:spPr>
        <p:txBody>
          <a:bodyPr wrap="square">
            <a:spAutoFit/>
          </a:bodyPr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TRAIN-SET</a:t>
            </a:r>
          </a:p>
        </p:txBody>
      </p:sp>
      <p:pic>
        <p:nvPicPr>
          <p:cNvPr id="38" name="Immagine 37" descr="Immagine che contiene schermata, Policromia&#10;&#10;Il contenuto generato dall'IA potrebbe non essere corretto.">
            <a:extLst>
              <a:ext uri="{FF2B5EF4-FFF2-40B4-BE49-F238E27FC236}">
                <a16:creationId xmlns:a16="http://schemas.microsoft.com/office/drawing/2014/main" id="{5832977A-EA2E-65F7-EC97-E182D186848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8482097" y="2761176"/>
            <a:ext cx="5654760" cy="2062447"/>
          </a:xfrm>
          <a:prstGeom prst="rect">
            <a:avLst/>
          </a:prstGeom>
        </p:spPr>
      </p:pic>
      <p:sp>
        <p:nvSpPr>
          <p:cNvPr id="39" name="Parentesi graffa aperta 38">
            <a:extLst>
              <a:ext uri="{FF2B5EF4-FFF2-40B4-BE49-F238E27FC236}">
                <a16:creationId xmlns:a16="http://schemas.microsoft.com/office/drawing/2014/main" id="{E81B6AE8-DC01-65D5-405B-02E54746571F}"/>
              </a:ext>
            </a:extLst>
          </p:cNvPr>
          <p:cNvSpPr/>
          <p:nvPr/>
        </p:nvSpPr>
        <p:spPr>
          <a:xfrm rot="10800000">
            <a:off x="-2827338" y="2996307"/>
            <a:ext cx="238042" cy="1592184"/>
          </a:xfrm>
          <a:prstGeom prst="leftBrace">
            <a:avLst>
              <a:gd name="adj1" fmla="val 26816"/>
              <a:gd name="adj2" fmla="val 48634"/>
            </a:avLst>
          </a:prstGeom>
          <a:noFill/>
          <a:ln>
            <a:solidFill>
              <a:srgbClr val="0F40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CEF8A4F0-0384-C70A-66E7-D7F1F1C89F82}"/>
              </a:ext>
            </a:extLst>
          </p:cNvPr>
          <p:cNvSpPr txBox="1"/>
          <p:nvPr/>
        </p:nvSpPr>
        <p:spPr>
          <a:xfrm>
            <a:off x="-2467790" y="3376900"/>
            <a:ext cx="23920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err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DamasconeB</a:t>
            </a:r>
            <a:r>
              <a:rPr lang="it-IT" sz="240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r>
              <a:rPr lang="it-IT" sz="2400" b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it-IT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err="1">
                <a:latin typeface="Arial" panose="020B0604020202020204" pitchFamily="34" charset="0"/>
                <a:cs typeface="Arial" panose="020B0604020202020204" pitchFamily="34" charset="0"/>
              </a:rPr>
              <a:t>measurment</a:t>
            </a:r>
            <a:endParaRPr lang="it-IT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89D64D40-661B-589D-B68B-792E64F9FD62}"/>
              </a:ext>
            </a:extLst>
          </p:cNvPr>
          <p:cNvSpPr txBox="1"/>
          <p:nvPr/>
        </p:nvSpPr>
        <p:spPr>
          <a:xfrm>
            <a:off x="-2096493" y="4328292"/>
            <a:ext cx="1422318" cy="369332"/>
          </a:xfrm>
          <a:prstGeom prst="rect">
            <a:avLst/>
          </a:prstGeom>
          <a:solidFill>
            <a:srgbClr val="0F406B"/>
          </a:solidFill>
        </p:spPr>
        <p:txBody>
          <a:bodyPr wrap="square">
            <a:spAutoFit/>
          </a:bodyPr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TEST-SET</a:t>
            </a:r>
          </a:p>
        </p:txBody>
      </p:sp>
      <p:sp>
        <p:nvSpPr>
          <p:cNvPr id="43" name="Parentesi graffa aperta 42">
            <a:extLst>
              <a:ext uri="{FF2B5EF4-FFF2-40B4-BE49-F238E27FC236}">
                <a16:creationId xmlns:a16="http://schemas.microsoft.com/office/drawing/2014/main" id="{47176922-ADBE-86E1-B4D1-96FC79CEADD7}"/>
              </a:ext>
            </a:extLst>
          </p:cNvPr>
          <p:cNvSpPr/>
          <p:nvPr/>
        </p:nvSpPr>
        <p:spPr>
          <a:xfrm>
            <a:off x="10032803" y="1074816"/>
            <a:ext cx="374337" cy="5030709"/>
          </a:xfrm>
          <a:prstGeom prst="leftBrace">
            <a:avLst>
              <a:gd name="adj1" fmla="val 87884"/>
              <a:gd name="adj2" fmla="val 86921"/>
            </a:avLst>
          </a:prstGeom>
          <a:noFill/>
          <a:ln w="38100">
            <a:solidFill>
              <a:srgbClr val="0F40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4" name="Immagine 43">
            <a:extLst>
              <a:ext uri="{FF2B5EF4-FFF2-40B4-BE49-F238E27FC236}">
                <a16:creationId xmlns:a16="http://schemas.microsoft.com/office/drawing/2014/main" id="{30EC091F-7AF5-2226-3D8D-8F7023DECF0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55508" y="4875882"/>
            <a:ext cx="4963360" cy="1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38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025B2-07D2-A4A2-ECBD-CE7EEB22E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68FA0550-CB59-A2CA-8A17-48AF3861D6A9}"/>
              </a:ext>
            </a:extLst>
          </p:cNvPr>
          <p:cNvSpPr/>
          <p:nvPr/>
        </p:nvSpPr>
        <p:spPr>
          <a:xfrm>
            <a:off x="-238531" y="6376664"/>
            <a:ext cx="8472199" cy="481339"/>
          </a:xfrm>
          <a:prstGeom prst="parallelogram">
            <a:avLst/>
          </a:prstGeom>
          <a:solidFill>
            <a:srgbClr val="0F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D052C9D5-8E02-73CD-ADA7-6F684D34D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2" y="6376665"/>
            <a:ext cx="459463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1BDAB622-AF58-16B1-1043-F794521ED9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10" y="6502433"/>
            <a:ext cx="2395665" cy="2208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6F6098-4AB0-59BD-1840-5D4CAED6D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253" y="-5638259"/>
            <a:ext cx="4775766" cy="4946633"/>
          </a:xfrm>
          <a:prstGeom prst="rect">
            <a:avLst/>
          </a:prstGeom>
        </p:spPr>
      </p:pic>
      <p:grpSp>
        <p:nvGrpSpPr>
          <p:cNvPr id="27" name="Gruppo 26">
            <a:extLst>
              <a:ext uri="{FF2B5EF4-FFF2-40B4-BE49-F238E27FC236}">
                <a16:creationId xmlns:a16="http://schemas.microsoft.com/office/drawing/2014/main" id="{815DC736-5ACF-A5FD-B8EA-B33676FCF110}"/>
              </a:ext>
            </a:extLst>
          </p:cNvPr>
          <p:cNvGrpSpPr/>
          <p:nvPr/>
        </p:nvGrpSpPr>
        <p:grpSpPr>
          <a:xfrm>
            <a:off x="5063336" y="8122674"/>
            <a:ext cx="3529480" cy="553998"/>
            <a:chOff x="15002" y="2101018"/>
            <a:chExt cx="4246903" cy="769908"/>
          </a:xfrm>
        </p:grpSpPr>
        <p:sp>
          <p:nvSpPr>
            <p:cNvPr id="20" name="CasellaDiTesto 1">
              <a:extLst>
                <a:ext uri="{FF2B5EF4-FFF2-40B4-BE49-F238E27FC236}">
                  <a16:creationId xmlns:a16="http://schemas.microsoft.com/office/drawing/2014/main" id="{6C7B42A8-C561-2AA4-4735-759AD2CB6C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02" y="2101018"/>
              <a:ext cx="4246903" cy="7699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1pPr>
              <a:lvl2pPr marL="742950" indent="-285750" eaLnBrk="0" hangingPunct="0"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2pPr>
              <a:lvl3pPr marL="1143000" indent="-228600" eaLnBrk="0" hangingPunct="0"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3pPr>
              <a:lvl4pPr marL="1600200" indent="-228600" eaLnBrk="0" hangingPunct="0"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4pPr>
              <a:lvl5pPr marL="2057400" indent="-228600" eaLnBrk="0" hangingPunct="0"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rgbClr val="414141"/>
                  </a:solidFill>
                  <a:latin typeface="Gill Sans Light" charset="0"/>
                  <a:ea typeface="ヒラギノ角ゴ ProN W3" charset="0"/>
                  <a:cs typeface="ヒラギノ角ゴ ProN W3" charset="0"/>
                  <a:sym typeface="Gill Sans Light" charset="0"/>
                </a:defRPr>
              </a:lvl9pPr>
            </a:lstStyle>
            <a:p>
              <a:pPr eaLnBrk="1" hangingPunct="1"/>
              <a:r>
                <a:rPr lang="it-IT" b="1">
                  <a:solidFill>
                    <a:srgbClr val="0F40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it-IT" sz="2000" b="1">
                  <a:solidFill>
                    <a:srgbClr val="0F40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ACHINE</a:t>
              </a:r>
              <a:r>
                <a:rPr lang="it-IT" b="1">
                  <a:solidFill>
                    <a:srgbClr val="0F40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it-IT" sz="2000" b="1">
                  <a:solidFill>
                    <a:srgbClr val="0F40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USED</a:t>
              </a:r>
              <a:endPara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" name="Connettore diritto 21">
              <a:extLst>
                <a:ext uri="{FF2B5EF4-FFF2-40B4-BE49-F238E27FC236}">
                  <a16:creationId xmlns:a16="http://schemas.microsoft.com/office/drawing/2014/main" id="{B33C780A-B609-E218-3A71-DBB45F413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606" y="2564104"/>
              <a:ext cx="2552852" cy="0"/>
            </a:xfrm>
            <a:prstGeom prst="line">
              <a:avLst/>
            </a:prstGeom>
            <a:ln>
              <a:solidFill>
                <a:srgbClr val="0F406B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Rectangle 3">
            <a:extLst>
              <a:ext uri="{FF2B5EF4-FFF2-40B4-BE49-F238E27FC236}">
                <a16:creationId xmlns:a16="http://schemas.microsoft.com/office/drawing/2014/main" id="{6A0998B7-3A27-348C-5DD8-BB46382FC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3336" y="8786409"/>
            <a:ext cx="4066855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44" indent="-285744" defTabSz="914377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Custom</a:t>
            </a:r>
            <a:r>
              <a:rPr lang="it-IT" altLang="it-IT">
                <a:solidFill>
                  <a:srgbClr val="0F406B"/>
                </a:solidFill>
                <a:latin typeface="Arial" panose="020B0604020202020204" pitchFamily="34" charset="0"/>
              </a:rPr>
              <a:t> </a:t>
            </a:r>
            <a:r>
              <a:rPr lang="it-IT" altLang="it-IT" b="1" err="1">
                <a:solidFill>
                  <a:srgbClr val="0F406B"/>
                </a:solidFill>
                <a:latin typeface="Arial" panose="020B0604020202020204" pitchFamily="34" charset="0"/>
              </a:rPr>
              <a:t>mechatronic</a:t>
            </a: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 </a:t>
            </a:r>
            <a:r>
              <a:rPr lang="it-IT" altLang="it-IT" b="1" err="1">
                <a:solidFill>
                  <a:srgbClr val="0F406B"/>
                </a:solidFill>
                <a:latin typeface="Arial" panose="020B0604020202020204" pitchFamily="34" charset="0"/>
              </a:rPr>
              <a:t>platform</a:t>
            </a: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 </a:t>
            </a:r>
            <a:r>
              <a:rPr lang="it-IT" altLang="it-IT" err="1">
                <a:latin typeface="Arial" panose="020B0604020202020204" pitchFamily="34" charset="0"/>
              </a:rPr>
              <a:t>developed</a:t>
            </a:r>
            <a:r>
              <a:rPr lang="it-IT" altLang="it-IT">
                <a:latin typeface="Arial" panose="020B0604020202020204" pitchFamily="34" charset="0"/>
              </a:rPr>
              <a:t> for precise </a:t>
            </a:r>
            <a:r>
              <a:rPr lang="it-IT" altLang="it-IT" err="1">
                <a:latin typeface="Arial" panose="020B0604020202020204" pitchFamily="34" charset="0"/>
              </a:rPr>
              <a:t>material</a:t>
            </a:r>
            <a:r>
              <a:rPr lang="it-IT" altLang="it-IT">
                <a:latin typeface="Arial" panose="020B0604020202020204" pitchFamily="34" charset="0"/>
              </a:rPr>
              <a:t> testing.</a:t>
            </a:r>
          </a:p>
          <a:p>
            <a:pPr marL="285744" indent="-285744" defTabSz="914377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Tri-</a:t>
            </a:r>
            <a:r>
              <a:rPr lang="it-IT" altLang="it-IT" b="1" err="1">
                <a:solidFill>
                  <a:srgbClr val="0F406B"/>
                </a:solidFill>
                <a:latin typeface="Arial" panose="020B0604020202020204" pitchFamily="34" charset="0"/>
              </a:rPr>
              <a:t>axial</a:t>
            </a: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 </a:t>
            </a:r>
            <a:r>
              <a:rPr lang="it-IT" altLang="it-IT" b="1" err="1">
                <a:solidFill>
                  <a:srgbClr val="0F406B"/>
                </a:solidFill>
                <a:latin typeface="Arial" panose="020B0604020202020204" pitchFamily="34" charset="0"/>
              </a:rPr>
              <a:t>motorized</a:t>
            </a: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 stage.</a:t>
            </a:r>
            <a:endParaRPr lang="it-IT" altLang="it-IT">
              <a:solidFill>
                <a:srgbClr val="0F406B"/>
              </a:solidFill>
              <a:latin typeface="Arial" panose="020B0604020202020204" pitchFamily="34" charset="0"/>
            </a:endParaRPr>
          </a:p>
          <a:p>
            <a:pPr marL="285744" indent="-285744" defTabSz="914377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Linear </a:t>
            </a:r>
            <a:r>
              <a:rPr lang="it-IT" altLang="it-IT" b="1" err="1">
                <a:solidFill>
                  <a:srgbClr val="0F406B"/>
                </a:solidFill>
                <a:latin typeface="Arial" panose="020B0604020202020204" pitchFamily="34" charset="0"/>
              </a:rPr>
              <a:t>actuator</a:t>
            </a:r>
            <a:r>
              <a:rPr lang="it-IT" altLang="it-IT">
                <a:solidFill>
                  <a:srgbClr val="0F406B"/>
                </a:solidFill>
                <a:latin typeface="Arial" panose="020B0604020202020204" pitchFamily="34" charset="0"/>
              </a:rPr>
              <a:t> </a:t>
            </a:r>
            <a:r>
              <a:rPr lang="it-IT" altLang="it-IT">
                <a:latin typeface="Arial" panose="020B0604020202020204" pitchFamily="34" charset="0"/>
              </a:rPr>
              <a:t>for </a:t>
            </a:r>
            <a:r>
              <a:rPr lang="it-IT" altLang="it-IT" err="1">
                <a:latin typeface="Arial" panose="020B0604020202020204" pitchFamily="34" charset="0"/>
              </a:rPr>
              <a:t>controlled</a:t>
            </a:r>
            <a:r>
              <a:rPr lang="it-IT" altLang="it-IT">
                <a:latin typeface="Arial" panose="020B0604020202020204" pitchFamily="34" charset="0"/>
              </a:rPr>
              <a:t> interaction</a:t>
            </a:r>
          </a:p>
          <a:p>
            <a:pPr marL="285744" indent="-285744" defTabSz="914377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High-</a:t>
            </a:r>
            <a:r>
              <a:rPr lang="it-IT" altLang="it-IT" b="1" err="1">
                <a:solidFill>
                  <a:srgbClr val="0F406B"/>
                </a:solidFill>
                <a:latin typeface="Arial" panose="020B0604020202020204" pitchFamily="34" charset="0"/>
              </a:rPr>
              <a:t>precision</a:t>
            </a:r>
            <a:r>
              <a:rPr lang="it-IT" altLang="it-IT" b="1">
                <a:solidFill>
                  <a:srgbClr val="0F406B"/>
                </a:solidFill>
                <a:latin typeface="Arial" panose="020B0604020202020204" pitchFamily="34" charset="0"/>
              </a:rPr>
              <a:t> load </a:t>
            </a:r>
            <a:r>
              <a:rPr lang="it-IT" altLang="it-IT" b="1" err="1">
                <a:solidFill>
                  <a:srgbClr val="0F406B"/>
                </a:solidFill>
                <a:latin typeface="Arial" panose="020B0604020202020204" pitchFamily="34" charset="0"/>
              </a:rPr>
              <a:t>cell</a:t>
            </a:r>
            <a:r>
              <a:rPr lang="it-IT" altLang="it-IT">
                <a:solidFill>
                  <a:srgbClr val="0F406B"/>
                </a:solidFill>
                <a:latin typeface="Arial" panose="020B0604020202020204" pitchFamily="34" charset="0"/>
              </a:rPr>
              <a:t> </a:t>
            </a:r>
            <a:r>
              <a:rPr lang="it-IT" altLang="it-IT">
                <a:latin typeface="Arial" panose="020B0604020202020204" pitchFamily="34" charset="0"/>
              </a:rPr>
              <a:t>for sensitive force </a:t>
            </a:r>
            <a:r>
              <a:rPr lang="it-IT" altLang="it-IT" err="1">
                <a:latin typeface="Arial" panose="020B0604020202020204" pitchFamily="34" charset="0"/>
              </a:rPr>
              <a:t>measurement</a:t>
            </a:r>
            <a:endParaRPr lang="it-IT" altLang="it-IT">
              <a:latin typeface="Arial" panose="020B0604020202020204" pitchFamily="34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180F72E-7E3E-CF14-69C0-7CB8A327C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127000"/>
            <a:ext cx="37973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eaLnBrk="1" hangingPunct="1"/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ATASET : SAMPLES</a:t>
            </a: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7749C6E5-2C17-659A-E9B0-A3F502785D78}"/>
              </a:ext>
            </a:extLst>
          </p:cNvPr>
          <p:cNvCxnSpPr>
            <a:cxnSpLocks/>
          </p:cNvCxnSpPr>
          <p:nvPr/>
        </p:nvCxnSpPr>
        <p:spPr>
          <a:xfrm>
            <a:off x="92754" y="623123"/>
            <a:ext cx="2904449" cy="0"/>
          </a:xfrm>
          <a:prstGeom prst="line">
            <a:avLst/>
          </a:prstGeom>
          <a:ln>
            <a:solidFill>
              <a:srgbClr val="0F406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Immagine 4">
            <a:extLst>
              <a:ext uri="{FF2B5EF4-FFF2-40B4-BE49-F238E27FC236}">
                <a16:creationId xmlns:a16="http://schemas.microsoft.com/office/drawing/2014/main" id="{1A0A46EC-7577-2787-57B0-D2AFEF0238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699" y="4875885"/>
            <a:ext cx="4963360" cy="1442907"/>
          </a:xfrm>
          <a:prstGeom prst="rect">
            <a:avLst/>
          </a:prstGeom>
        </p:spPr>
      </p:pic>
      <p:pic>
        <p:nvPicPr>
          <p:cNvPr id="11" name="Immagine 10" descr="Immagine che contiene schermata, Policromia&#10;&#10;Il contenuto generato dall'IA potrebbe non essere corretto.">
            <a:extLst>
              <a:ext uri="{FF2B5EF4-FFF2-40B4-BE49-F238E27FC236}">
                <a16:creationId xmlns:a16="http://schemas.microsoft.com/office/drawing/2014/main" id="{51837E77-F927-C016-134D-05B0A005DF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761179"/>
            <a:ext cx="5654760" cy="2062447"/>
          </a:xfrm>
          <a:prstGeom prst="rect">
            <a:avLst/>
          </a:prstGeom>
        </p:spPr>
      </p:pic>
      <p:pic>
        <p:nvPicPr>
          <p:cNvPr id="13" name="Immagine 12" descr="Immagine che contiene schermata, Policromia, calcolatore, design&#10;&#10;Il contenuto generato dall'IA potrebbe non essere corretto.">
            <a:extLst>
              <a:ext uri="{FF2B5EF4-FFF2-40B4-BE49-F238E27FC236}">
                <a16:creationId xmlns:a16="http://schemas.microsoft.com/office/drawing/2014/main" id="{150E06D6-FDFA-E677-7F2F-64E60C74B7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" y="711554"/>
            <a:ext cx="5654759" cy="2062447"/>
          </a:xfrm>
          <a:prstGeom prst="rect">
            <a:avLst/>
          </a:prstGeom>
        </p:spPr>
      </p:pic>
      <p:sp>
        <p:nvSpPr>
          <p:cNvPr id="14" name="Parentesi graffa aperta 13">
            <a:extLst>
              <a:ext uri="{FF2B5EF4-FFF2-40B4-BE49-F238E27FC236}">
                <a16:creationId xmlns:a16="http://schemas.microsoft.com/office/drawing/2014/main" id="{E0E68BDB-4A9C-49A5-DC51-401EA697FF99}"/>
              </a:ext>
            </a:extLst>
          </p:cNvPr>
          <p:cNvSpPr/>
          <p:nvPr/>
        </p:nvSpPr>
        <p:spPr>
          <a:xfrm rot="10800000">
            <a:off x="5654760" y="946681"/>
            <a:ext cx="238043" cy="1592184"/>
          </a:xfrm>
          <a:prstGeom prst="leftBrace">
            <a:avLst>
              <a:gd name="adj1" fmla="val 26816"/>
              <a:gd name="adj2" fmla="val 48634"/>
            </a:avLst>
          </a:prstGeom>
          <a:noFill/>
          <a:ln>
            <a:solidFill>
              <a:srgbClr val="0F40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Parentesi graffa aperta 14">
            <a:extLst>
              <a:ext uri="{FF2B5EF4-FFF2-40B4-BE49-F238E27FC236}">
                <a16:creationId xmlns:a16="http://schemas.microsoft.com/office/drawing/2014/main" id="{33929C97-F453-B5E3-A755-1BB28F05BE48}"/>
              </a:ext>
            </a:extLst>
          </p:cNvPr>
          <p:cNvSpPr/>
          <p:nvPr/>
        </p:nvSpPr>
        <p:spPr>
          <a:xfrm rot="10800000">
            <a:off x="5654760" y="2996307"/>
            <a:ext cx="238043" cy="1592184"/>
          </a:xfrm>
          <a:prstGeom prst="leftBrace">
            <a:avLst>
              <a:gd name="adj1" fmla="val 26816"/>
              <a:gd name="adj2" fmla="val 48634"/>
            </a:avLst>
          </a:prstGeom>
          <a:noFill/>
          <a:ln>
            <a:solidFill>
              <a:srgbClr val="0F40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08A27D5-F0A3-29BC-4504-5CB62DF6C129}"/>
              </a:ext>
            </a:extLst>
          </p:cNvPr>
          <p:cNvSpPr txBox="1"/>
          <p:nvPr/>
        </p:nvSpPr>
        <p:spPr>
          <a:xfrm>
            <a:off x="6014310" y="1328532"/>
            <a:ext cx="2392001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400" b="1" err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DamasconeA</a:t>
            </a:r>
            <a:r>
              <a:rPr lang="it-IT" sz="240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r>
              <a:rPr lang="it-IT" sz="2400" b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it-IT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err="1">
                <a:latin typeface="Arial" panose="020B0604020202020204" pitchFamily="34" charset="0"/>
                <a:cs typeface="Arial" panose="020B0604020202020204" pitchFamily="34" charset="0"/>
              </a:rPr>
              <a:t>measurments</a:t>
            </a:r>
            <a:endParaRPr lang="it-IT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F8AF654C-CC26-E4DA-0241-9F3996EE2CA4}"/>
              </a:ext>
            </a:extLst>
          </p:cNvPr>
          <p:cNvSpPr txBox="1"/>
          <p:nvPr/>
        </p:nvSpPr>
        <p:spPr>
          <a:xfrm>
            <a:off x="6014310" y="3376903"/>
            <a:ext cx="23920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err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DamasconeB</a:t>
            </a:r>
            <a:r>
              <a:rPr lang="it-IT" sz="240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r>
              <a:rPr lang="it-IT" sz="2400" b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it-IT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err="1">
                <a:latin typeface="Arial" panose="020B0604020202020204" pitchFamily="34" charset="0"/>
                <a:cs typeface="Arial" panose="020B0604020202020204" pitchFamily="34" charset="0"/>
              </a:rPr>
              <a:t>measurment</a:t>
            </a:r>
            <a:endParaRPr lang="it-IT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7ECBDCEA-D104-D2C9-414A-69119904DADA}"/>
              </a:ext>
            </a:extLst>
          </p:cNvPr>
          <p:cNvSpPr txBox="1"/>
          <p:nvPr/>
        </p:nvSpPr>
        <p:spPr>
          <a:xfrm>
            <a:off x="6385606" y="2203566"/>
            <a:ext cx="1422319" cy="369332"/>
          </a:xfrm>
          <a:prstGeom prst="rect">
            <a:avLst/>
          </a:prstGeom>
          <a:solidFill>
            <a:srgbClr val="0F406B"/>
          </a:solidFill>
        </p:spPr>
        <p:txBody>
          <a:bodyPr wrap="square">
            <a:spAutoFit/>
          </a:bodyPr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TRAIN-SET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FA2D9190-5580-A642-33CC-33D83A49DAF2}"/>
              </a:ext>
            </a:extLst>
          </p:cNvPr>
          <p:cNvSpPr txBox="1"/>
          <p:nvPr/>
        </p:nvSpPr>
        <p:spPr>
          <a:xfrm>
            <a:off x="6385606" y="4328293"/>
            <a:ext cx="1422319" cy="369332"/>
          </a:xfrm>
          <a:prstGeom prst="rect">
            <a:avLst/>
          </a:prstGeom>
          <a:solidFill>
            <a:srgbClr val="0F406B"/>
          </a:solidFill>
        </p:spPr>
        <p:txBody>
          <a:bodyPr wrap="square">
            <a:spAutoFit/>
          </a:bodyPr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TEST-SET</a:t>
            </a:r>
          </a:p>
        </p:txBody>
      </p: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F318F319-B02D-D8C2-F6A4-2FB27CF33645}"/>
              </a:ext>
            </a:extLst>
          </p:cNvPr>
          <p:cNvGrpSpPr/>
          <p:nvPr/>
        </p:nvGrpSpPr>
        <p:grpSpPr>
          <a:xfrm>
            <a:off x="-9729808" y="761050"/>
            <a:ext cx="8619449" cy="5357747"/>
            <a:chOff x="92750" y="761050"/>
            <a:chExt cx="8619449" cy="5357747"/>
          </a:xfrm>
        </p:grpSpPr>
        <p:pic>
          <p:nvPicPr>
            <p:cNvPr id="41" name="Immagine 40">
              <a:extLst>
                <a:ext uri="{FF2B5EF4-FFF2-40B4-BE49-F238E27FC236}">
                  <a16:creationId xmlns:a16="http://schemas.microsoft.com/office/drawing/2014/main" id="{7F697FF5-E6B0-E1F8-0A28-DC4D4287B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2750" y="761050"/>
              <a:ext cx="8619449" cy="5357747"/>
            </a:xfrm>
            <a:prstGeom prst="rect">
              <a:avLst/>
            </a:prstGeom>
          </p:spPr>
        </p:pic>
        <p:sp>
          <p:nvSpPr>
            <p:cNvPr id="42" name="Rettangolo 41">
              <a:extLst>
                <a:ext uri="{FF2B5EF4-FFF2-40B4-BE49-F238E27FC236}">
                  <a16:creationId xmlns:a16="http://schemas.microsoft.com/office/drawing/2014/main" id="{D2D01F09-3004-1AC3-5F0E-E6D32F0B06EF}"/>
                </a:ext>
              </a:extLst>
            </p:cNvPr>
            <p:cNvSpPr/>
            <p:nvPr/>
          </p:nvSpPr>
          <p:spPr>
            <a:xfrm>
              <a:off x="203199" y="3300701"/>
              <a:ext cx="698501" cy="242600"/>
            </a:xfrm>
            <a:prstGeom prst="rect">
              <a:avLst/>
            </a:prstGeom>
            <a:solidFill>
              <a:srgbClr val="0F406B">
                <a:alpha val="0"/>
              </a:srgbClr>
            </a:solidFill>
            <a:ln w="28575">
              <a:solidFill>
                <a:srgbClr val="0F40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3" name="Rettangolo 42">
              <a:extLst>
                <a:ext uri="{FF2B5EF4-FFF2-40B4-BE49-F238E27FC236}">
                  <a16:creationId xmlns:a16="http://schemas.microsoft.com/office/drawing/2014/main" id="{719FD8BC-4DCA-C748-F2A6-9B0B33EC14CA}"/>
                </a:ext>
              </a:extLst>
            </p:cNvPr>
            <p:cNvSpPr/>
            <p:nvPr/>
          </p:nvSpPr>
          <p:spPr>
            <a:xfrm>
              <a:off x="203199" y="5535901"/>
              <a:ext cx="698501" cy="242600"/>
            </a:xfrm>
            <a:prstGeom prst="rect">
              <a:avLst/>
            </a:prstGeom>
            <a:solidFill>
              <a:srgbClr val="0F406B">
                <a:alpha val="0"/>
              </a:srgbClr>
            </a:solidFill>
            <a:ln w="28575">
              <a:solidFill>
                <a:srgbClr val="0F40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4" name="Rettangolo 43">
              <a:extLst>
                <a:ext uri="{FF2B5EF4-FFF2-40B4-BE49-F238E27FC236}">
                  <a16:creationId xmlns:a16="http://schemas.microsoft.com/office/drawing/2014/main" id="{666446BE-54EC-5984-4086-B33148B2CC21}"/>
                </a:ext>
              </a:extLst>
            </p:cNvPr>
            <p:cNvSpPr/>
            <p:nvPr/>
          </p:nvSpPr>
          <p:spPr>
            <a:xfrm>
              <a:off x="203199" y="4407477"/>
              <a:ext cx="419102" cy="242600"/>
            </a:xfrm>
            <a:prstGeom prst="rect">
              <a:avLst/>
            </a:prstGeom>
            <a:solidFill>
              <a:srgbClr val="0F406B">
                <a:alpha val="0"/>
              </a:srgbClr>
            </a:solidFill>
            <a:ln w="28575">
              <a:solidFill>
                <a:srgbClr val="0F40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5" name="Rettangolo 44">
              <a:extLst>
                <a:ext uri="{FF2B5EF4-FFF2-40B4-BE49-F238E27FC236}">
                  <a16:creationId xmlns:a16="http://schemas.microsoft.com/office/drawing/2014/main" id="{5D5D89AB-72C7-6762-49CB-F03D368A7603}"/>
                </a:ext>
              </a:extLst>
            </p:cNvPr>
            <p:cNvSpPr/>
            <p:nvPr/>
          </p:nvSpPr>
          <p:spPr>
            <a:xfrm>
              <a:off x="203198" y="5793767"/>
              <a:ext cx="832499" cy="242600"/>
            </a:xfrm>
            <a:prstGeom prst="rect">
              <a:avLst/>
            </a:prstGeom>
            <a:solidFill>
              <a:srgbClr val="0F406B">
                <a:alpha val="0"/>
              </a:srgbClr>
            </a:solidFill>
            <a:ln w="28575">
              <a:solidFill>
                <a:srgbClr val="0F40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39C0FF0C-A29C-2ADD-994B-AFB2ADF7D5D6}"/>
              </a:ext>
            </a:extLst>
          </p:cNvPr>
          <p:cNvSpPr txBox="1"/>
          <p:nvPr/>
        </p:nvSpPr>
        <p:spPr>
          <a:xfrm>
            <a:off x="6111585" y="-717432"/>
            <a:ext cx="2576346" cy="400110"/>
          </a:xfrm>
          <a:prstGeom prst="rect">
            <a:avLst/>
          </a:prstGeom>
          <a:solidFill>
            <a:srgbClr val="0F406B"/>
          </a:solidFill>
        </p:spPr>
        <p:txBody>
          <a:bodyPr wrap="none" rtlCol="0">
            <a:spAutoFit/>
          </a:bodyPr>
          <a:lstStyle/>
          <a:p>
            <a:r>
              <a:rPr lang="it-IT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81 x 81 </a:t>
            </a:r>
            <a:r>
              <a:rPr lang="it-IT" sz="20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</a:t>
            </a:r>
            <a:r>
              <a:rPr lang="it-IT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points</a:t>
            </a: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2A180407-454D-0156-FAA0-B6B2FD00D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591234"/>
            <a:ext cx="37973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eaLnBrk="1" hangingPunct="1"/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ATASET : TABLES</a:t>
            </a:r>
          </a:p>
        </p:txBody>
      </p:sp>
    </p:spTree>
    <p:extLst>
      <p:ext uri="{BB962C8B-B14F-4D97-AF65-F5344CB8AC3E}">
        <p14:creationId xmlns:p14="http://schemas.microsoft.com/office/powerpoint/2010/main" val="464580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97BD8-AABA-F50F-D3AB-1CCDD8E21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A20E08A5-AFB9-16AA-EBEA-1C11ABB97355}"/>
              </a:ext>
            </a:extLst>
          </p:cNvPr>
          <p:cNvSpPr/>
          <p:nvPr/>
        </p:nvSpPr>
        <p:spPr>
          <a:xfrm>
            <a:off x="-238531" y="6376664"/>
            <a:ext cx="8472199" cy="481339"/>
          </a:xfrm>
          <a:prstGeom prst="parallelogram">
            <a:avLst/>
          </a:prstGeom>
          <a:solidFill>
            <a:srgbClr val="0F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6DBDC3E1-E14B-7822-51B0-6840549150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2" y="6376665"/>
            <a:ext cx="459463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29CF093C-49B5-A811-7FEB-7E91281830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10" y="6502433"/>
            <a:ext cx="2395665" cy="22087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059F08A-BC27-E9C0-78B3-80C3B8F018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99" y="9496152"/>
            <a:ext cx="4963360" cy="1442907"/>
          </a:xfrm>
          <a:prstGeom prst="rect">
            <a:avLst/>
          </a:prstGeom>
        </p:spPr>
      </p:pic>
      <p:pic>
        <p:nvPicPr>
          <p:cNvPr id="11" name="Immagine 10" descr="Immagine che contiene schermata, Policromia&#10;&#10;Il contenuto generato dall'IA potrebbe non essere corretto.">
            <a:extLst>
              <a:ext uri="{FF2B5EF4-FFF2-40B4-BE49-F238E27FC236}">
                <a16:creationId xmlns:a16="http://schemas.microsoft.com/office/drawing/2014/main" id="{E7C68C3B-B2AB-B57A-1FD0-21ADD6FA5D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790" y="2761176"/>
            <a:ext cx="5654760" cy="2062447"/>
          </a:xfrm>
          <a:prstGeom prst="rect">
            <a:avLst/>
          </a:prstGeom>
        </p:spPr>
      </p:pic>
      <p:pic>
        <p:nvPicPr>
          <p:cNvPr id="13" name="Immagine 12" descr="Immagine che contiene schermata, Policromia, calcolatore, design&#10;&#10;Il contenuto generato dall'IA potrebbe non essere corretto.">
            <a:extLst>
              <a:ext uri="{FF2B5EF4-FFF2-40B4-BE49-F238E27FC236}">
                <a16:creationId xmlns:a16="http://schemas.microsoft.com/office/drawing/2014/main" id="{164FF6D3-BECC-3FB5-ECB8-140B86F6A9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7790" y="711550"/>
            <a:ext cx="5654759" cy="2062447"/>
          </a:xfrm>
          <a:prstGeom prst="rect">
            <a:avLst/>
          </a:prstGeom>
        </p:spPr>
      </p:pic>
      <p:sp>
        <p:nvSpPr>
          <p:cNvPr id="14" name="Parentesi graffa aperta 13">
            <a:extLst>
              <a:ext uri="{FF2B5EF4-FFF2-40B4-BE49-F238E27FC236}">
                <a16:creationId xmlns:a16="http://schemas.microsoft.com/office/drawing/2014/main" id="{4A7B8722-2BE7-F24F-5085-2A27F6472015}"/>
              </a:ext>
            </a:extLst>
          </p:cNvPr>
          <p:cNvSpPr/>
          <p:nvPr/>
        </p:nvSpPr>
        <p:spPr>
          <a:xfrm rot="10800000">
            <a:off x="15002549" y="946681"/>
            <a:ext cx="238042" cy="1592184"/>
          </a:xfrm>
          <a:prstGeom prst="leftBrace">
            <a:avLst>
              <a:gd name="adj1" fmla="val 26816"/>
              <a:gd name="adj2" fmla="val 48634"/>
            </a:avLst>
          </a:prstGeom>
          <a:noFill/>
          <a:ln>
            <a:solidFill>
              <a:srgbClr val="0F40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Parentesi graffa aperta 14">
            <a:extLst>
              <a:ext uri="{FF2B5EF4-FFF2-40B4-BE49-F238E27FC236}">
                <a16:creationId xmlns:a16="http://schemas.microsoft.com/office/drawing/2014/main" id="{F4A0A152-8ADE-DDB0-FF85-7B0499BEF3E7}"/>
              </a:ext>
            </a:extLst>
          </p:cNvPr>
          <p:cNvSpPr/>
          <p:nvPr/>
        </p:nvSpPr>
        <p:spPr>
          <a:xfrm rot="10800000">
            <a:off x="15002549" y="2996307"/>
            <a:ext cx="238042" cy="1592184"/>
          </a:xfrm>
          <a:prstGeom prst="leftBrace">
            <a:avLst>
              <a:gd name="adj1" fmla="val 26816"/>
              <a:gd name="adj2" fmla="val 48634"/>
            </a:avLst>
          </a:prstGeom>
          <a:noFill/>
          <a:ln>
            <a:solidFill>
              <a:srgbClr val="0F40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7EA090A-7024-2C4C-D45F-A665965ED533}"/>
              </a:ext>
            </a:extLst>
          </p:cNvPr>
          <p:cNvSpPr txBox="1"/>
          <p:nvPr/>
        </p:nvSpPr>
        <p:spPr>
          <a:xfrm>
            <a:off x="15362097" y="1328529"/>
            <a:ext cx="23920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err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DamasconeA</a:t>
            </a:r>
            <a:r>
              <a:rPr lang="it-IT" sz="240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r>
              <a:rPr lang="it-IT" sz="2400" b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it-IT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err="1">
                <a:latin typeface="Arial" panose="020B0604020202020204" pitchFamily="34" charset="0"/>
                <a:cs typeface="Arial" panose="020B0604020202020204" pitchFamily="34" charset="0"/>
              </a:rPr>
              <a:t>measurments</a:t>
            </a:r>
            <a:endParaRPr lang="it-IT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FCC1A723-5198-DAEE-70EE-DC6FD67A291D}"/>
              </a:ext>
            </a:extLst>
          </p:cNvPr>
          <p:cNvSpPr txBox="1"/>
          <p:nvPr/>
        </p:nvSpPr>
        <p:spPr>
          <a:xfrm>
            <a:off x="15362097" y="3376900"/>
            <a:ext cx="23920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err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DamasconeB</a:t>
            </a:r>
            <a:r>
              <a:rPr lang="it-IT" sz="240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r>
              <a:rPr lang="it-IT" sz="2400" b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it-IT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err="1">
                <a:latin typeface="Arial" panose="020B0604020202020204" pitchFamily="34" charset="0"/>
                <a:cs typeface="Arial" panose="020B0604020202020204" pitchFamily="34" charset="0"/>
              </a:rPr>
              <a:t>measurment</a:t>
            </a:r>
            <a:endParaRPr lang="it-IT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56D3465-AF2A-7AB1-8384-3B2995628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127000"/>
            <a:ext cx="37973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eaLnBrk="1" hangingPunct="1"/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ATASET : TABLES</a:t>
            </a:r>
          </a:p>
        </p:txBody>
      </p: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3F709B46-BF74-2571-5817-A7AB8BEBB88B}"/>
              </a:ext>
            </a:extLst>
          </p:cNvPr>
          <p:cNvCxnSpPr>
            <a:cxnSpLocks/>
          </p:cNvCxnSpPr>
          <p:nvPr/>
        </p:nvCxnSpPr>
        <p:spPr>
          <a:xfrm>
            <a:off x="92754" y="623123"/>
            <a:ext cx="2904449" cy="0"/>
          </a:xfrm>
          <a:prstGeom prst="line">
            <a:avLst/>
          </a:prstGeom>
          <a:ln>
            <a:solidFill>
              <a:srgbClr val="0F406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2B1B4F8-EC5E-14DB-DC4F-B0F3FCF94DC6}"/>
              </a:ext>
            </a:extLst>
          </p:cNvPr>
          <p:cNvSpPr txBox="1"/>
          <p:nvPr/>
        </p:nvSpPr>
        <p:spPr>
          <a:xfrm>
            <a:off x="6111585" y="284740"/>
            <a:ext cx="2576346" cy="400110"/>
          </a:xfrm>
          <a:prstGeom prst="rect">
            <a:avLst/>
          </a:prstGeom>
          <a:solidFill>
            <a:srgbClr val="0F406B"/>
          </a:solidFill>
        </p:spPr>
        <p:txBody>
          <a:bodyPr wrap="none" rtlCol="0">
            <a:spAutoFit/>
          </a:bodyPr>
          <a:lstStyle/>
          <a:p>
            <a:r>
              <a:rPr lang="it-IT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81 x 81 </a:t>
            </a:r>
            <a:r>
              <a:rPr lang="it-IT" sz="20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</a:t>
            </a:r>
            <a:r>
              <a:rPr lang="it-IT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points</a:t>
            </a:r>
          </a:p>
        </p:txBody>
      </p: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E45639D2-1B28-3F5A-B2D5-4F8008C2471D}"/>
              </a:ext>
            </a:extLst>
          </p:cNvPr>
          <p:cNvGrpSpPr/>
          <p:nvPr/>
        </p:nvGrpSpPr>
        <p:grpSpPr>
          <a:xfrm>
            <a:off x="92754" y="761053"/>
            <a:ext cx="8619449" cy="5357747"/>
            <a:chOff x="92750" y="761050"/>
            <a:chExt cx="8619449" cy="5357747"/>
          </a:xfrm>
        </p:grpSpPr>
        <p:pic>
          <p:nvPicPr>
            <p:cNvPr id="18" name="Immagine 17">
              <a:extLst>
                <a:ext uri="{FF2B5EF4-FFF2-40B4-BE49-F238E27FC236}">
                  <a16:creationId xmlns:a16="http://schemas.microsoft.com/office/drawing/2014/main" id="{AFF273CC-5FC9-A50F-11E9-9E8680F55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2750" y="761050"/>
              <a:ext cx="8619449" cy="5357747"/>
            </a:xfrm>
            <a:prstGeom prst="rect">
              <a:avLst/>
            </a:prstGeom>
          </p:spPr>
        </p:pic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F5523CA8-F321-D6F3-A612-E99421D100DE}"/>
                </a:ext>
              </a:extLst>
            </p:cNvPr>
            <p:cNvSpPr/>
            <p:nvPr/>
          </p:nvSpPr>
          <p:spPr>
            <a:xfrm>
              <a:off x="203199" y="3300701"/>
              <a:ext cx="698501" cy="242600"/>
            </a:xfrm>
            <a:prstGeom prst="rect">
              <a:avLst/>
            </a:prstGeom>
            <a:solidFill>
              <a:srgbClr val="0F406B">
                <a:alpha val="0"/>
              </a:srgbClr>
            </a:solidFill>
            <a:ln w="28575">
              <a:solidFill>
                <a:srgbClr val="0F40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3" name="Rettangolo 22">
              <a:extLst>
                <a:ext uri="{FF2B5EF4-FFF2-40B4-BE49-F238E27FC236}">
                  <a16:creationId xmlns:a16="http://schemas.microsoft.com/office/drawing/2014/main" id="{6E7A1BFF-0F7C-8CB1-BA2D-E5901BDE58FB}"/>
                </a:ext>
              </a:extLst>
            </p:cNvPr>
            <p:cNvSpPr/>
            <p:nvPr/>
          </p:nvSpPr>
          <p:spPr>
            <a:xfrm>
              <a:off x="203199" y="5535901"/>
              <a:ext cx="698501" cy="242600"/>
            </a:xfrm>
            <a:prstGeom prst="rect">
              <a:avLst/>
            </a:prstGeom>
            <a:solidFill>
              <a:srgbClr val="0F406B">
                <a:alpha val="0"/>
              </a:srgbClr>
            </a:solidFill>
            <a:ln w="28575">
              <a:solidFill>
                <a:srgbClr val="0F40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4" name="Rettangolo 23">
              <a:extLst>
                <a:ext uri="{FF2B5EF4-FFF2-40B4-BE49-F238E27FC236}">
                  <a16:creationId xmlns:a16="http://schemas.microsoft.com/office/drawing/2014/main" id="{3668626D-1665-5001-1458-5AC267B0FFBC}"/>
                </a:ext>
              </a:extLst>
            </p:cNvPr>
            <p:cNvSpPr/>
            <p:nvPr/>
          </p:nvSpPr>
          <p:spPr>
            <a:xfrm>
              <a:off x="203199" y="4407477"/>
              <a:ext cx="419102" cy="242600"/>
            </a:xfrm>
            <a:prstGeom prst="rect">
              <a:avLst/>
            </a:prstGeom>
            <a:solidFill>
              <a:srgbClr val="0F406B">
                <a:alpha val="0"/>
              </a:srgbClr>
            </a:solidFill>
            <a:ln w="28575">
              <a:solidFill>
                <a:srgbClr val="0F40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5" name="Rettangolo 24">
              <a:extLst>
                <a:ext uri="{FF2B5EF4-FFF2-40B4-BE49-F238E27FC236}">
                  <a16:creationId xmlns:a16="http://schemas.microsoft.com/office/drawing/2014/main" id="{9CEBD698-99F7-4CC3-47C8-9E4C97DD5C0C}"/>
                </a:ext>
              </a:extLst>
            </p:cNvPr>
            <p:cNvSpPr/>
            <p:nvPr/>
          </p:nvSpPr>
          <p:spPr>
            <a:xfrm>
              <a:off x="203198" y="5793767"/>
              <a:ext cx="832499" cy="242600"/>
            </a:xfrm>
            <a:prstGeom prst="rect">
              <a:avLst/>
            </a:prstGeom>
            <a:solidFill>
              <a:srgbClr val="0F406B">
                <a:alpha val="0"/>
              </a:srgbClr>
            </a:solidFill>
            <a:ln w="28575">
              <a:solidFill>
                <a:srgbClr val="0F40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385EF854-10B4-57C5-42D5-FA06E5F45279}"/>
              </a:ext>
            </a:extLst>
          </p:cNvPr>
          <p:cNvSpPr txBox="1"/>
          <p:nvPr/>
        </p:nvSpPr>
        <p:spPr>
          <a:xfrm>
            <a:off x="15638140" y="2203565"/>
            <a:ext cx="1422318" cy="369332"/>
          </a:xfrm>
          <a:prstGeom prst="rect">
            <a:avLst/>
          </a:prstGeom>
          <a:solidFill>
            <a:srgbClr val="0F406B"/>
          </a:solidFill>
        </p:spPr>
        <p:txBody>
          <a:bodyPr wrap="square">
            <a:spAutoFit/>
          </a:bodyPr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TRAIN-SET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CB3D1862-168C-1435-2E18-853F4AEF234A}"/>
              </a:ext>
            </a:extLst>
          </p:cNvPr>
          <p:cNvSpPr txBox="1"/>
          <p:nvPr/>
        </p:nvSpPr>
        <p:spPr>
          <a:xfrm>
            <a:off x="15638140" y="4328292"/>
            <a:ext cx="1422318" cy="369332"/>
          </a:xfrm>
          <a:prstGeom prst="rect">
            <a:avLst/>
          </a:prstGeom>
          <a:solidFill>
            <a:srgbClr val="0F406B"/>
          </a:solidFill>
        </p:spPr>
        <p:txBody>
          <a:bodyPr wrap="square">
            <a:spAutoFit/>
          </a:bodyPr>
          <a:lstStyle/>
          <a:p>
            <a:r>
              <a:rPr lang="it-IT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TEST-SET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13D68363-59B1-F4D7-2D5A-7B5D37479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504649" y="127000"/>
            <a:ext cx="37973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eaLnBrk="1" hangingPunct="1"/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ATASET : SAMPLES</a:t>
            </a:r>
          </a:p>
        </p:txBody>
      </p:sp>
    </p:spTree>
    <p:extLst>
      <p:ext uri="{BB962C8B-B14F-4D97-AF65-F5344CB8AC3E}">
        <p14:creationId xmlns:p14="http://schemas.microsoft.com/office/powerpoint/2010/main" val="352153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ACC08-14F2-B913-DC88-16B698F9E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uppo 72">
            <a:extLst>
              <a:ext uri="{FF2B5EF4-FFF2-40B4-BE49-F238E27FC236}">
                <a16:creationId xmlns:a16="http://schemas.microsoft.com/office/drawing/2014/main" id="{C11AC44F-5D46-0B58-EC5E-9CA765F70BCB}"/>
              </a:ext>
            </a:extLst>
          </p:cNvPr>
          <p:cNvGrpSpPr/>
          <p:nvPr/>
        </p:nvGrpSpPr>
        <p:grpSpPr>
          <a:xfrm>
            <a:off x="247014" y="10347600"/>
            <a:ext cx="3733962" cy="779366"/>
            <a:chOff x="247014" y="10347600"/>
            <a:chExt cx="3733962" cy="779366"/>
          </a:xfrm>
        </p:grpSpPr>
        <p:pic>
          <p:nvPicPr>
            <p:cNvPr id="38" name="Immagine 37">
              <a:extLst>
                <a:ext uri="{FF2B5EF4-FFF2-40B4-BE49-F238E27FC236}">
                  <a16:creationId xmlns:a16="http://schemas.microsoft.com/office/drawing/2014/main" id="{DD584867-DB9F-7B79-89FF-1FCBDB1D6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7014" y="10347600"/>
              <a:ext cx="2239012" cy="712869"/>
            </a:xfrm>
            <a:prstGeom prst="rect">
              <a:avLst/>
            </a:prstGeom>
          </p:spPr>
        </p:pic>
        <p:pic>
          <p:nvPicPr>
            <p:cNvPr id="68" name="Elemento grafico 67" descr="Frecce a zig zag contorno">
              <a:extLst>
                <a:ext uri="{FF2B5EF4-FFF2-40B4-BE49-F238E27FC236}">
                  <a16:creationId xmlns:a16="http://schemas.microsoft.com/office/drawing/2014/main" id="{BAB11117-1AE2-38DE-ED2D-172616A3D7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3488620" y="10634610"/>
              <a:ext cx="492356" cy="492356"/>
            </a:xfrm>
            <a:prstGeom prst="rect">
              <a:avLst/>
            </a:prstGeom>
          </p:spPr>
        </p:pic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25DF9858-3C87-9ECA-571A-AF2439A4EBA6}"/>
              </a:ext>
            </a:extLst>
          </p:cNvPr>
          <p:cNvGrpSpPr/>
          <p:nvPr/>
        </p:nvGrpSpPr>
        <p:grpSpPr>
          <a:xfrm>
            <a:off x="92750" y="6983768"/>
            <a:ext cx="8619449" cy="5357747"/>
            <a:chOff x="92750" y="761050"/>
            <a:chExt cx="8619449" cy="5357747"/>
          </a:xfrm>
        </p:grpSpPr>
        <p:pic>
          <p:nvPicPr>
            <p:cNvPr id="18" name="Immagine 17">
              <a:extLst>
                <a:ext uri="{FF2B5EF4-FFF2-40B4-BE49-F238E27FC236}">
                  <a16:creationId xmlns:a16="http://schemas.microsoft.com/office/drawing/2014/main" id="{2FADA044-CDD2-8D3E-8E06-CA30B9C28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750" y="761050"/>
              <a:ext cx="8619449" cy="5357747"/>
            </a:xfrm>
            <a:prstGeom prst="rect">
              <a:avLst/>
            </a:prstGeom>
          </p:spPr>
        </p:pic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4A844D3B-094A-657D-1574-008CCFA6D2D3}"/>
                </a:ext>
              </a:extLst>
            </p:cNvPr>
            <p:cNvSpPr/>
            <p:nvPr/>
          </p:nvSpPr>
          <p:spPr>
            <a:xfrm>
              <a:off x="203199" y="3300701"/>
              <a:ext cx="698501" cy="242600"/>
            </a:xfrm>
            <a:prstGeom prst="rect">
              <a:avLst/>
            </a:prstGeom>
            <a:solidFill>
              <a:srgbClr val="0F406B">
                <a:alpha val="0"/>
              </a:srgbClr>
            </a:solidFill>
            <a:ln w="28575">
              <a:solidFill>
                <a:srgbClr val="0F40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3" name="Rettangolo 22">
              <a:extLst>
                <a:ext uri="{FF2B5EF4-FFF2-40B4-BE49-F238E27FC236}">
                  <a16:creationId xmlns:a16="http://schemas.microsoft.com/office/drawing/2014/main" id="{0E660085-8A38-0F07-39D0-B4E72571E201}"/>
                </a:ext>
              </a:extLst>
            </p:cNvPr>
            <p:cNvSpPr/>
            <p:nvPr/>
          </p:nvSpPr>
          <p:spPr>
            <a:xfrm>
              <a:off x="203199" y="5535901"/>
              <a:ext cx="698501" cy="242600"/>
            </a:xfrm>
            <a:prstGeom prst="rect">
              <a:avLst/>
            </a:prstGeom>
            <a:solidFill>
              <a:srgbClr val="0F406B">
                <a:alpha val="0"/>
              </a:srgbClr>
            </a:solidFill>
            <a:ln w="28575">
              <a:solidFill>
                <a:srgbClr val="0F40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4" name="Rettangolo 23">
              <a:extLst>
                <a:ext uri="{FF2B5EF4-FFF2-40B4-BE49-F238E27FC236}">
                  <a16:creationId xmlns:a16="http://schemas.microsoft.com/office/drawing/2014/main" id="{BD7433A7-3DF3-E0DD-D6DA-2640B586A6E9}"/>
                </a:ext>
              </a:extLst>
            </p:cNvPr>
            <p:cNvSpPr/>
            <p:nvPr/>
          </p:nvSpPr>
          <p:spPr>
            <a:xfrm>
              <a:off x="203199" y="4407477"/>
              <a:ext cx="419102" cy="242600"/>
            </a:xfrm>
            <a:prstGeom prst="rect">
              <a:avLst/>
            </a:prstGeom>
            <a:solidFill>
              <a:srgbClr val="0F406B">
                <a:alpha val="0"/>
              </a:srgbClr>
            </a:solidFill>
            <a:ln w="28575">
              <a:solidFill>
                <a:srgbClr val="0F40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5" name="Rettangolo 24">
              <a:extLst>
                <a:ext uri="{FF2B5EF4-FFF2-40B4-BE49-F238E27FC236}">
                  <a16:creationId xmlns:a16="http://schemas.microsoft.com/office/drawing/2014/main" id="{AAF801CD-1FD0-5084-E20E-F299D2402433}"/>
                </a:ext>
              </a:extLst>
            </p:cNvPr>
            <p:cNvSpPr/>
            <p:nvPr/>
          </p:nvSpPr>
          <p:spPr>
            <a:xfrm>
              <a:off x="203198" y="5793767"/>
              <a:ext cx="832499" cy="242600"/>
            </a:xfrm>
            <a:prstGeom prst="rect">
              <a:avLst/>
            </a:prstGeom>
            <a:solidFill>
              <a:srgbClr val="0F406B">
                <a:alpha val="0"/>
              </a:srgbClr>
            </a:solidFill>
            <a:ln w="28575">
              <a:solidFill>
                <a:srgbClr val="0F40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72" name="Gruppo 71">
            <a:extLst>
              <a:ext uri="{FF2B5EF4-FFF2-40B4-BE49-F238E27FC236}">
                <a16:creationId xmlns:a16="http://schemas.microsoft.com/office/drawing/2014/main" id="{CE4C9638-BBF4-B416-B140-DE8ACF0D0343}"/>
              </a:ext>
            </a:extLst>
          </p:cNvPr>
          <p:cNvGrpSpPr/>
          <p:nvPr/>
        </p:nvGrpSpPr>
        <p:grpSpPr>
          <a:xfrm>
            <a:off x="117394" y="8938628"/>
            <a:ext cx="3863583" cy="701552"/>
            <a:chOff x="117394" y="8938628"/>
            <a:chExt cx="3863583" cy="701552"/>
          </a:xfrm>
        </p:grpSpPr>
        <p:pic>
          <p:nvPicPr>
            <p:cNvPr id="20" name="Immagine 19">
              <a:extLst>
                <a:ext uri="{FF2B5EF4-FFF2-40B4-BE49-F238E27FC236}">
                  <a16:creationId xmlns:a16="http://schemas.microsoft.com/office/drawing/2014/main" id="{574F64CD-2C36-A2A4-2E65-7C0DA3E92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7394" y="8938628"/>
              <a:ext cx="2016920" cy="561928"/>
            </a:xfrm>
            <a:prstGeom prst="rect">
              <a:avLst/>
            </a:prstGeom>
          </p:spPr>
        </p:pic>
        <p:pic>
          <p:nvPicPr>
            <p:cNvPr id="60" name="Elemento grafico 59" descr="Frecce a zig zag contorno">
              <a:extLst>
                <a:ext uri="{FF2B5EF4-FFF2-40B4-BE49-F238E27FC236}">
                  <a16:creationId xmlns:a16="http://schemas.microsoft.com/office/drawing/2014/main" id="{88B8B371-9C42-90D7-C0C1-30771DDBA01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6200000">
              <a:off x="3488621" y="9147824"/>
              <a:ext cx="492356" cy="492356"/>
            </a:xfrm>
            <a:prstGeom prst="rect">
              <a:avLst/>
            </a:prstGeom>
          </p:spPr>
        </p:pic>
      </p:grpSp>
      <p:sp>
        <p:nvSpPr>
          <p:cNvPr id="6" name="Parallelogramma 5">
            <a:extLst>
              <a:ext uri="{FF2B5EF4-FFF2-40B4-BE49-F238E27FC236}">
                <a16:creationId xmlns:a16="http://schemas.microsoft.com/office/drawing/2014/main" id="{3856EF78-A5EF-C8B4-EBBE-7CD2B2A7E3A4}"/>
              </a:ext>
            </a:extLst>
          </p:cNvPr>
          <p:cNvSpPr/>
          <p:nvPr/>
        </p:nvSpPr>
        <p:spPr>
          <a:xfrm>
            <a:off x="-238531" y="6376664"/>
            <a:ext cx="8472199" cy="481339"/>
          </a:xfrm>
          <a:prstGeom prst="parallelogram">
            <a:avLst/>
          </a:prstGeom>
          <a:solidFill>
            <a:srgbClr val="0F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42EF3086-8EDB-43ED-1DEE-BEAFB3197E8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2" y="6376665"/>
            <a:ext cx="459463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16AB5C8C-2D59-1CD5-70C2-FFBC3589999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10" y="6502433"/>
            <a:ext cx="2395665" cy="220877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52B0F32E-E517-2A29-10DE-44A9109DE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177853" y="127000"/>
            <a:ext cx="37973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eaLnBrk="1" hangingPunct="1"/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ATASET : TABLES</a:t>
            </a:r>
          </a:p>
        </p:txBody>
      </p: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9EDF5E8F-3DAA-15CF-E516-D3448B62C00A}"/>
              </a:ext>
            </a:extLst>
          </p:cNvPr>
          <p:cNvCxnSpPr>
            <a:cxnSpLocks/>
          </p:cNvCxnSpPr>
          <p:nvPr/>
        </p:nvCxnSpPr>
        <p:spPr>
          <a:xfrm>
            <a:off x="-3085102" y="623123"/>
            <a:ext cx="2904449" cy="0"/>
          </a:xfrm>
          <a:prstGeom prst="line">
            <a:avLst/>
          </a:prstGeom>
          <a:ln>
            <a:solidFill>
              <a:srgbClr val="0F406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DD39C4EE-2A02-B8CD-CEC6-504AEFD9E7E4}"/>
              </a:ext>
            </a:extLst>
          </p:cNvPr>
          <p:cNvSpPr txBox="1"/>
          <p:nvPr/>
        </p:nvSpPr>
        <p:spPr>
          <a:xfrm>
            <a:off x="6111585" y="-648710"/>
            <a:ext cx="2576346" cy="400110"/>
          </a:xfrm>
          <a:prstGeom prst="rect">
            <a:avLst/>
          </a:prstGeom>
          <a:solidFill>
            <a:srgbClr val="0F406B"/>
          </a:solidFill>
        </p:spPr>
        <p:txBody>
          <a:bodyPr wrap="none" rtlCol="0">
            <a:spAutoFit/>
          </a:bodyPr>
          <a:lstStyle/>
          <a:p>
            <a:r>
              <a:rPr lang="it-IT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81 x 81 </a:t>
            </a:r>
            <a:r>
              <a:rPr lang="it-IT" sz="20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</a:t>
            </a:r>
            <a:r>
              <a:rPr lang="it-IT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points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86CF47F-E879-A6BD-C573-BA1F5B1CB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1790" y="0"/>
            <a:ext cx="3400425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algn="ctr" eaLnBrk="1" hangingPunct="1"/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EATURE EXTRACTION: </a:t>
            </a:r>
          </a:p>
          <a:p>
            <a:pPr algn="ctr" eaLnBrk="1" hangingPunct="1"/>
            <a:r>
              <a:rPr lang="it-IT" sz="2000" b="1" err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Signals</a:t>
            </a:r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b="1" err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</a:t>
            </a:r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-processing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6FE7CD85-FD63-84FF-EF02-30FD7DE10E1D}"/>
              </a:ext>
            </a:extLst>
          </p:cNvPr>
          <p:cNvCxnSpPr>
            <a:cxnSpLocks/>
          </p:cNvCxnSpPr>
          <p:nvPr/>
        </p:nvCxnSpPr>
        <p:spPr>
          <a:xfrm>
            <a:off x="2871788" y="884823"/>
            <a:ext cx="3471863" cy="0"/>
          </a:xfrm>
          <a:prstGeom prst="line">
            <a:avLst/>
          </a:prstGeom>
          <a:ln w="38100">
            <a:solidFill>
              <a:srgbClr val="0F4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Immagine 26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E57F957F-944F-1360-B66A-E369EC3E735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92758" y="1189734"/>
            <a:ext cx="5139863" cy="2569931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ED7061D7-D8FD-CD3F-5001-310CE10FD95D}"/>
              </a:ext>
            </a:extLst>
          </p:cNvPr>
          <p:cNvSpPr txBox="1"/>
          <p:nvPr/>
        </p:nvSpPr>
        <p:spPr>
          <a:xfrm>
            <a:off x="112315" y="5217016"/>
            <a:ext cx="8919368" cy="1077218"/>
          </a:xfrm>
          <a:prstGeom prst="rect">
            <a:avLst/>
          </a:prstGeom>
          <a:solidFill>
            <a:srgbClr val="0F406B"/>
          </a:solidFill>
        </p:spPr>
        <p:txBody>
          <a:bodyPr wrap="square">
            <a:spAutoFit/>
          </a:bodyPr>
          <a:lstStyle/>
          <a:p>
            <a:r>
              <a:rPr lang="it-IT" sz="160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Extracted</a:t>
            </a:r>
            <a:r>
              <a:rPr lang="it-IT"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features:</a:t>
            </a:r>
            <a:r>
              <a:rPr lang="it-IT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1" u="sng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Stiffness</a:t>
            </a:r>
            <a:r>
              <a:rPr lang="it-IT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Tau, </a:t>
            </a:r>
            <a:r>
              <a:rPr lang="it-IT" sz="16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Entropy</a:t>
            </a:r>
            <a:r>
              <a:rPr lang="it-IT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1600" b="1" u="sng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Upstroke</a:t>
            </a:r>
            <a:r>
              <a:rPr lang="it-IT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1600" b="1" u="sng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Downstroke</a:t>
            </a:r>
            <a:r>
              <a:rPr lang="it-IT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16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Psteadystate</a:t>
            </a:r>
            <a:r>
              <a:rPr lang="it-IT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16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ForceOvershoot</a:t>
            </a:r>
            <a:r>
              <a:rPr lang="it-IT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16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ForceRelaxation</a:t>
            </a:r>
            <a:r>
              <a:rPr lang="it-IT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16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ForceRMS</a:t>
            </a:r>
            <a:r>
              <a:rPr lang="it-IT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1600" b="1" u="sng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DampingCoefficient</a:t>
            </a:r>
            <a:r>
              <a:rPr lang="it-IT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16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ContactArea</a:t>
            </a:r>
            <a:r>
              <a:rPr lang="it-IT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16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ForcePeakToPeak</a:t>
            </a:r>
            <a:r>
              <a:rPr lang="it-IT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Activity, </a:t>
            </a:r>
            <a:r>
              <a:rPr lang="it-IT" sz="1600" b="1" u="sng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Mobility</a:t>
            </a:r>
            <a:r>
              <a:rPr lang="it-IT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1600" b="1" u="sng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TkeoMean</a:t>
            </a:r>
            <a:r>
              <a:rPr lang="it-IT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16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CorrelationForcePosition</a:t>
            </a:r>
            <a:r>
              <a:rPr lang="it-IT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16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PeakRatio</a:t>
            </a:r>
            <a:r>
              <a:rPr lang="it-IT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16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SampleEntropy</a:t>
            </a:r>
            <a:r>
              <a:rPr lang="it-IT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16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LoadingSkewness</a:t>
            </a:r>
            <a:r>
              <a:rPr lang="it-IT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16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LoadingKurtosis</a:t>
            </a:r>
            <a:r>
              <a:rPr lang="it-IT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16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QuarticCoefficient</a:t>
            </a:r>
            <a:r>
              <a:rPr lang="it-IT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9774CF92-CB43-6AA9-1A56-AE6A75F214BE}"/>
              </a:ext>
            </a:extLst>
          </p:cNvPr>
          <p:cNvSpPr txBox="1"/>
          <p:nvPr/>
        </p:nvSpPr>
        <p:spPr>
          <a:xfrm>
            <a:off x="129382" y="989037"/>
            <a:ext cx="1633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RAW</a:t>
            </a:r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 SIGNAL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9B86EAED-7813-A0C2-D838-B3BBEC1CF30F}"/>
              </a:ext>
            </a:extLst>
          </p:cNvPr>
          <p:cNvSpPr txBox="1"/>
          <p:nvPr/>
        </p:nvSpPr>
        <p:spPr>
          <a:xfrm>
            <a:off x="133023" y="2474698"/>
            <a:ext cx="2864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GAUSSIAN SMOOTHING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630340E9-CA32-504C-59B9-9C29D2584E75}"/>
              </a:ext>
            </a:extLst>
          </p:cNvPr>
          <p:cNvSpPr txBox="1"/>
          <p:nvPr/>
        </p:nvSpPr>
        <p:spPr>
          <a:xfrm>
            <a:off x="92751" y="3972594"/>
            <a:ext cx="2103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</a:t>
            </a:r>
          </a:p>
          <a:p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9B0D7987-F40E-8A80-46B9-DC3C0E874CA4}"/>
              </a:ext>
            </a:extLst>
          </p:cNvPr>
          <p:cNvSpPr txBox="1"/>
          <p:nvPr/>
        </p:nvSpPr>
        <p:spPr>
          <a:xfrm>
            <a:off x="4716411" y="3963250"/>
            <a:ext cx="2790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INTERPOLATION (1kHz)</a:t>
            </a:r>
          </a:p>
          <a:p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CUBIC SPLINE</a:t>
            </a:r>
          </a:p>
        </p:txBody>
      </p:sp>
      <p:pic>
        <p:nvPicPr>
          <p:cNvPr id="50" name="Immagine 49">
            <a:extLst>
              <a:ext uri="{FF2B5EF4-FFF2-40B4-BE49-F238E27FC236}">
                <a16:creationId xmlns:a16="http://schemas.microsoft.com/office/drawing/2014/main" id="{B5C56B1A-D6DF-03CA-9D1E-798604865B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751" y="4319650"/>
            <a:ext cx="3790951" cy="676275"/>
          </a:xfrm>
          <a:prstGeom prst="rect">
            <a:avLst/>
          </a:prstGeom>
        </p:spPr>
      </p:pic>
      <p:pic>
        <p:nvPicPr>
          <p:cNvPr id="52" name="Immagine 51">
            <a:extLst>
              <a:ext uri="{FF2B5EF4-FFF2-40B4-BE49-F238E27FC236}">
                <a16:creationId xmlns:a16="http://schemas.microsoft.com/office/drawing/2014/main" id="{3AD00DD3-6FDF-AD97-CB49-3C254753D03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3469" y="2817435"/>
            <a:ext cx="3361171" cy="382479"/>
          </a:xfrm>
          <a:prstGeom prst="rect">
            <a:avLst/>
          </a:prstGeom>
        </p:spPr>
      </p:pic>
      <p:pic>
        <p:nvPicPr>
          <p:cNvPr id="54" name="Immagine 53">
            <a:extLst>
              <a:ext uri="{FF2B5EF4-FFF2-40B4-BE49-F238E27FC236}">
                <a16:creationId xmlns:a16="http://schemas.microsoft.com/office/drawing/2014/main" id="{C538AF18-D373-C1BC-0D66-D3FAEAABCD7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16413" y="4661234"/>
            <a:ext cx="3819525" cy="485775"/>
          </a:xfrm>
          <a:prstGeom prst="rect">
            <a:avLst/>
          </a:prstGeom>
        </p:spPr>
      </p:pic>
      <p:pic>
        <p:nvPicPr>
          <p:cNvPr id="56" name="Elemento grafico 55" descr="Grafico periodico contorno">
            <a:extLst>
              <a:ext uri="{FF2B5EF4-FFF2-40B4-BE49-F238E27FC236}">
                <a16:creationId xmlns:a16="http://schemas.microsoft.com/office/drawing/2014/main" id="{961B3A98-572D-8229-7834-6A228866D18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2315" y="1264648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asellaDiTesto 56">
                <a:extLst>
                  <a:ext uri="{FF2B5EF4-FFF2-40B4-BE49-F238E27FC236}">
                    <a16:creationId xmlns:a16="http://schemas.microsoft.com/office/drawing/2014/main" id="{D5CFA40C-AA08-5851-92B5-83BDED7DC215}"/>
                  </a:ext>
                </a:extLst>
              </p:cNvPr>
              <p:cNvSpPr txBox="1"/>
              <p:nvPr/>
            </p:nvSpPr>
            <p:spPr>
              <a:xfrm>
                <a:off x="243470" y="3206668"/>
                <a:ext cx="6227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it-IT"/>
              </a:p>
            </p:txBody>
          </p:sp>
        </mc:Choice>
        <mc:Fallback xmlns="">
          <p:sp>
            <p:nvSpPr>
              <p:cNvPr id="57" name="CasellaDiTesto 56">
                <a:extLst>
                  <a:ext uri="{FF2B5EF4-FFF2-40B4-BE49-F238E27FC236}">
                    <a16:creationId xmlns:a16="http://schemas.microsoft.com/office/drawing/2014/main" id="{D5CFA40C-AA08-5851-92B5-83BDED7DC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70" y="3206668"/>
                <a:ext cx="622798" cy="276999"/>
              </a:xfrm>
              <a:prstGeom prst="rect">
                <a:avLst/>
              </a:prstGeom>
              <a:blipFill>
                <a:blip r:embed="rId18"/>
                <a:stretch>
                  <a:fillRect l="-4902" r="-8824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Connettore a gomito 58">
            <a:extLst>
              <a:ext uri="{FF2B5EF4-FFF2-40B4-BE49-F238E27FC236}">
                <a16:creationId xmlns:a16="http://schemas.microsoft.com/office/drawing/2014/main" id="{EA54C75C-006E-CB8F-52B2-6D0D5C2933B4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1763226" y="1173703"/>
            <a:ext cx="485232" cy="1263670"/>
          </a:xfrm>
          <a:prstGeom prst="bentConnector2">
            <a:avLst/>
          </a:prstGeom>
          <a:ln>
            <a:solidFill>
              <a:srgbClr val="0F406B"/>
            </a:solidFill>
            <a:tailEnd type="triangle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4" name="Connettore 2 63">
            <a:extLst>
              <a:ext uri="{FF2B5EF4-FFF2-40B4-BE49-F238E27FC236}">
                <a16:creationId xmlns:a16="http://schemas.microsoft.com/office/drawing/2014/main" id="{D65F91DC-24BF-802E-91A3-8296082C0336}"/>
              </a:ext>
            </a:extLst>
          </p:cNvPr>
          <p:cNvCxnSpPr/>
          <p:nvPr/>
        </p:nvCxnSpPr>
        <p:spPr>
          <a:xfrm>
            <a:off x="552449" y="3571878"/>
            <a:ext cx="0" cy="400715"/>
          </a:xfrm>
          <a:prstGeom prst="straightConnector1">
            <a:avLst/>
          </a:prstGeom>
          <a:ln>
            <a:solidFill>
              <a:srgbClr val="0F406B"/>
            </a:solidFill>
            <a:tailEnd type="triangle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5" name="Connettore 2 64">
            <a:extLst>
              <a:ext uri="{FF2B5EF4-FFF2-40B4-BE49-F238E27FC236}">
                <a16:creationId xmlns:a16="http://schemas.microsoft.com/office/drawing/2014/main" id="{0996D8D1-F429-9703-193E-7BC164FE18CA}"/>
              </a:ext>
            </a:extLst>
          </p:cNvPr>
          <p:cNvCxnSpPr>
            <a:cxnSpLocks/>
          </p:cNvCxnSpPr>
          <p:nvPr/>
        </p:nvCxnSpPr>
        <p:spPr>
          <a:xfrm>
            <a:off x="3945850" y="4618921"/>
            <a:ext cx="626151" cy="0"/>
          </a:xfrm>
          <a:prstGeom prst="straightConnector1">
            <a:avLst/>
          </a:prstGeom>
          <a:ln>
            <a:solidFill>
              <a:srgbClr val="0F406B"/>
            </a:solidFill>
            <a:tailEnd type="triangle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A09C066C-84D6-3757-6456-0127026D4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1785" y="-824074"/>
            <a:ext cx="3400425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algn="ctr" eaLnBrk="1" hangingPunct="1"/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EATURE EXTRACTION: </a:t>
            </a:r>
          </a:p>
          <a:p>
            <a:pPr algn="ctr" eaLnBrk="1" hangingPunct="1"/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</a:t>
            </a:r>
            <a:r>
              <a:rPr lang="it-IT" sz="2000" b="1" err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Computation</a:t>
            </a:r>
            <a:endParaRPr lang="it-IT" sz="2000" b="1">
              <a:solidFill>
                <a:srgbClr val="0F40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7F1039CA-55F7-B051-A970-5BF165AB7CD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7014" y="7496288"/>
            <a:ext cx="2418019" cy="628057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13C0DB-EFCC-F407-775C-3CE10803E32C}"/>
              </a:ext>
            </a:extLst>
          </p:cNvPr>
          <p:cNvSpPr txBox="1"/>
          <p:nvPr/>
        </p:nvSpPr>
        <p:spPr>
          <a:xfrm>
            <a:off x="85725" y="7042799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STIFFNESS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3EDAD83-5DAE-13F8-2C54-CFF4E5C80D5E}"/>
              </a:ext>
            </a:extLst>
          </p:cNvPr>
          <p:cNvSpPr txBox="1"/>
          <p:nvPr/>
        </p:nvSpPr>
        <p:spPr>
          <a:xfrm>
            <a:off x="85725" y="8515176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UPSTROKE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88B3175-CC2E-33B8-65F0-761866EDE970}"/>
              </a:ext>
            </a:extLst>
          </p:cNvPr>
          <p:cNvSpPr txBox="1"/>
          <p:nvPr/>
        </p:nvSpPr>
        <p:spPr>
          <a:xfrm>
            <a:off x="117394" y="9963622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DOWNSTROKE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90AE5CC7-C7CF-EF05-F47E-890203476D2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86026" y="7227465"/>
            <a:ext cx="804916" cy="300631"/>
          </a:xfrm>
          <a:prstGeom prst="rect">
            <a:avLst/>
          </a:prstGeom>
        </p:spPr>
      </p:pic>
      <p:sp>
        <p:nvSpPr>
          <p:cNvPr id="14" name="Rettangolo 13">
            <a:extLst>
              <a:ext uri="{FF2B5EF4-FFF2-40B4-BE49-F238E27FC236}">
                <a16:creationId xmlns:a16="http://schemas.microsoft.com/office/drawing/2014/main" id="{77866D07-EDA9-E564-3B5C-414041A26DFA}"/>
              </a:ext>
            </a:extLst>
          </p:cNvPr>
          <p:cNvSpPr/>
          <p:nvPr/>
        </p:nvSpPr>
        <p:spPr>
          <a:xfrm>
            <a:off x="1568409" y="7528096"/>
            <a:ext cx="917617" cy="226864"/>
          </a:xfrm>
          <a:prstGeom prst="rect">
            <a:avLst/>
          </a:prstGeom>
          <a:noFill/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A526AA4A-F1B5-3611-947B-893BE29B2FCB}"/>
              </a:ext>
            </a:extLst>
          </p:cNvPr>
          <p:cNvSpPr/>
          <p:nvPr/>
        </p:nvSpPr>
        <p:spPr>
          <a:xfrm>
            <a:off x="85725" y="7042799"/>
            <a:ext cx="3914775" cy="1190604"/>
          </a:xfrm>
          <a:prstGeom prst="rect">
            <a:avLst/>
          </a:prstGeom>
          <a:noFill/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D3FA462C-E234-6918-1BF6-BE79EC473F62}"/>
              </a:ext>
            </a:extLst>
          </p:cNvPr>
          <p:cNvSpPr/>
          <p:nvPr/>
        </p:nvSpPr>
        <p:spPr>
          <a:xfrm>
            <a:off x="85725" y="8499716"/>
            <a:ext cx="3914775" cy="1190604"/>
          </a:xfrm>
          <a:prstGeom prst="rect">
            <a:avLst/>
          </a:prstGeom>
          <a:noFill/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7239582D-5D74-1617-470D-7B1115EFF691}"/>
              </a:ext>
            </a:extLst>
          </p:cNvPr>
          <p:cNvSpPr/>
          <p:nvPr/>
        </p:nvSpPr>
        <p:spPr>
          <a:xfrm>
            <a:off x="117394" y="9956633"/>
            <a:ext cx="3914775" cy="1190604"/>
          </a:xfrm>
          <a:prstGeom prst="rect">
            <a:avLst/>
          </a:prstGeom>
          <a:noFill/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FF83FF1B-5891-F720-6CCA-78736DD5BC06}"/>
              </a:ext>
            </a:extLst>
          </p:cNvPr>
          <p:cNvSpPr/>
          <p:nvPr/>
        </p:nvSpPr>
        <p:spPr>
          <a:xfrm>
            <a:off x="1465549" y="8979131"/>
            <a:ext cx="434928" cy="200397"/>
          </a:xfrm>
          <a:prstGeom prst="rect">
            <a:avLst/>
          </a:prstGeom>
          <a:noFill/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00AE26D2-DE87-1411-3A4B-8C5C6F9CF5B3}"/>
              </a:ext>
            </a:extLst>
          </p:cNvPr>
          <p:cNvSpPr/>
          <p:nvPr/>
        </p:nvSpPr>
        <p:spPr>
          <a:xfrm>
            <a:off x="885825" y="8989590"/>
            <a:ext cx="434928" cy="200397"/>
          </a:xfrm>
          <a:prstGeom prst="rect">
            <a:avLst/>
          </a:prstGeom>
          <a:noFill/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0F8A63A6-3099-6280-C2D4-04A7326EE84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76596" y="8658120"/>
            <a:ext cx="800100" cy="342900"/>
          </a:xfrm>
          <a:prstGeom prst="rect">
            <a:avLst/>
          </a:prstGeom>
        </p:spPr>
      </p:pic>
      <p:cxnSp>
        <p:nvCxnSpPr>
          <p:cNvPr id="30" name="Connettore a gomito 29">
            <a:extLst>
              <a:ext uri="{FF2B5EF4-FFF2-40B4-BE49-F238E27FC236}">
                <a16:creationId xmlns:a16="http://schemas.microsoft.com/office/drawing/2014/main" id="{BBF9437B-CCB8-FDD7-F614-E9B1C4513394}"/>
              </a:ext>
            </a:extLst>
          </p:cNvPr>
          <p:cNvCxnSpPr>
            <a:cxnSpLocks/>
            <a:stCxn id="28" idx="0"/>
            <a:endCxn id="29" idx="1"/>
          </p:cNvCxnSpPr>
          <p:nvPr/>
        </p:nvCxnSpPr>
        <p:spPr>
          <a:xfrm rot="5400000" flipH="1" flipV="1">
            <a:off x="1659932" y="8272927"/>
            <a:ext cx="160020" cy="1273307"/>
          </a:xfrm>
          <a:prstGeom prst="bentConnector2">
            <a:avLst/>
          </a:prstGeom>
          <a:ln>
            <a:solidFill>
              <a:srgbClr val="0F406B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Immagine 30">
            <a:extLst>
              <a:ext uri="{FF2B5EF4-FFF2-40B4-BE49-F238E27FC236}">
                <a16:creationId xmlns:a16="http://schemas.microsoft.com/office/drawing/2014/main" id="{A976EFD9-1EE7-DA8B-35DD-3E01589977C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71780" y="9085757"/>
            <a:ext cx="804916" cy="300631"/>
          </a:xfrm>
          <a:prstGeom prst="rect">
            <a:avLst/>
          </a:prstGeom>
        </p:spPr>
      </p:pic>
      <p:cxnSp>
        <p:nvCxnSpPr>
          <p:cNvPr id="32" name="Connettore a gomito 31">
            <a:extLst>
              <a:ext uri="{FF2B5EF4-FFF2-40B4-BE49-F238E27FC236}">
                <a16:creationId xmlns:a16="http://schemas.microsoft.com/office/drawing/2014/main" id="{37E37ABF-1F2B-DE18-15F1-4C127041DF42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1900477" y="9085757"/>
            <a:ext cx="471303" cy="150316"/>
          </a:xfrm>
          <a:prstGeom prst="bentConnector3">
            <a:avLst>
              <a:gd name="adj1" fmla="val 50000"/>
            </a:avLst>
          </a:prstGeom>
          <a:ln>
            <a:solidFill>
              <a:srgbClr val="0F406B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ttangolo 38">
            <a:extLst>
              <a:ext uri="{FF2B5EF4-FFF2-40B4-BE49-F238E27FC236}">
                <a16:creationId xmlns:a16="http://schemas.microsoft.com/office/drawing/2014/main" id="{B715AC88-43C5-BF3F-3A01-1B41185A9844}"/>
              </a:ext>
            </a:extLst>
          </p:cNvPr>
          <p:cNvSpPr/>
          <p:nvPr/>
        </p:nvSpPr>
        <p:spPr>
          <a:xfrm>
            <a:off x="1177884" y="10361048"/>
            <a:ext cx="434928" cy="273562"/>
          </a:xfrm>
          <a:prstGeom prst="rect">
            <a:avLst/>
          </a:prstGeom>
          <a:noFill/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0" name="Immagine 39">
            <a:extLst>
              <a:ext uri="{FF2B5EF4-FFF2-40B4-BE49-F238E27FC236}">
                <a16:creationId xmlns:a16="http://schemas.microsoft.com/office/drawing/2014/main" id="{1ADC74F9-B5A0-D252-9E99-6D9CE680BA5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96178" y="10071487"/>
            <a:ext cx="866775" cy="352425"/>
          </a:xfrm>
          <a:prstGeom prst="rect">
            <a:avLst/>
          </a:prstGeom>
        </p:spPr>
      </p:pic>
      <p:cxnSp>
        <p:nvCxnSpPr>
          <p:cNvPr id="41" name="Connettore a gomito 40">
            <a:extLst>
              <a:ext uri="{FF2B5EF4-FFF2-40B4-BE49-F238E27FC236}">
                <a16:creationId xmlns:a16="http://schemas.microsoft.com/office/drawing/2014/main" id="{164B6149-E167-F56B-C1DC-6E64762D58B9}"/>
              </a:ext>
            </a:extLst>
          </p:cNvPr>
          <p:cNvCxnSpPr>
            <a:cxnSpLocks/>
            <a:stCxn id="39" idx="0"/>
            <a:endCxn id="40" idx="1"/>
          </p:cNvCxnSpPr>
          <p:nvPr/>
        </p:nvCxnSpPr>
        <p:spPr>
          <a:xfrm rot="5400000" flipH="1" flipV="1">
            <a:off x="1939089" y="9703959"/>
            <a:ext cx="113348" cy="1200830"/>
          </a:xfrm>
          <a:prstGeom prst="bentConnector2">
            <a:avLst/>
          </a:prstGeom>
          <a:ln>
            <a:solidFill>
              <a:srgbClr val="0F406B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4AB16DED-A145-2CBC-A93B-19BECCEBA25E}"/>
              </a:ext>
            </a:extLst>
          </p:cNvPr>
          <p:cNvSpPr txBox="1"/>
          <p:nvPr/>
        </p:nvSpPr>
        <p:spPr>
          <a:xfrm>
            <a:off x="6180563" y="7042799"/>
            <a:ext cx="2877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DAMPING COEFFICIENT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C046D920-0A18-6D71-8B2E-48077A28A798}"/>
              </a:ext>
            </a:extLst>
          </p:cNvPr>
          <p:cNvSpPr/>
          <p:nvPr/>
        </p:nvSpPr>
        <p:spPr>
          <a:xfrm>
            <a:off x="5143500" y="7042799"/>
            <a:ext cx="3914775" cy="1190604"/>
          </a:xfrm>
          <a:prstGeom prst="rect">
            <a:avLst/>
          </a:prstGeom>
          <a:noFill/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2F3ABB64-E2F5-F591-7B86-237E908E582B}"/>
              </a:ext>
            </a:extLst>
          </p:cNvPr>
          <p:cNvSpPr/>
          <p:nvPr/>
        </p:nvSpPr>
        <p:spPr>
          <a:xfrm>
            <a:off x="5143499" y="8499716"/>
            <a:ext cx="3914775" cy="1190604"/>
          </a:xfrm>
          <a:prstGeom prst="rect">
            <a:avLst/>
          </a:prstGeom>
          <a:noFill/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D8D83F2F-52E6-171A-52EB-BF5907B4F133}"/>
              </a:ext>
            </a:extLst>
          </p:cNvPr>
          <p:cNvSpPr txBox="1"/>
          <p:nvPr/>
        </p:nvSpPr>
        <p:spPr>
          <a:xfrm>
            <a:off x="7739074" y="9956632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MOBILITY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6CBCA42D-8770-C41B-A46E-C9C2918636F9}"/>
              </a:ext>
            </a:extLst>
          </p:cNvPr>
          <p:cNvSpPr/>
          <p:nvPr/>
        </p:nvSpPr>
        <p:spPr>
          <a:xfrm>
            <a:off x="5111831" y="9956632"/>
            <a:ext cx="3914775" cy="1190604"/>
          </a:xfrm>
          <a:prstGeom prst="rect">
            <a:avLst/>
          </a:prstGeom>
          <a:noFill/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7" name="Connettore diritto 46">
            <a:extLst>
              <a:ext uri="{FF2B5EF4-FFF2-40B4-BE49-F238E27FC236}">
                <a16:creationId xmlns:a16="http://schemas.microsoft.com/office/drawing/2014/main" id="{B4EB43B4-5DF2-2082-22CA-753AA18FF6FA}"/>
              </a:ext>
            </a:extLst>
          </p:cNvPr>
          <p:cNvCxnSpPr>
            <a:cxnSpLocks/>
          </p:cNvCxnSpPr>
          <p:nvPr/>
        </p:nvCxnSpPr>
        <p:spPr>
          <a:xfrm>
            <a:off x="4571999" y="6757051"/>
            <a:ext cx="0" cy="4781551"/>
          </a:xfrm>
          <a:prstGeom prst="line">
            <a:avLst/>
          </a:prstGeom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Immagine 47">
            <a:extLst>
              <a:ext uri="{FF2B5EF4-FFF2-40B4-BE49-F238E27FC236}">
                <a16:creationId xmlns:a16="http://schemas.microsoft.com/office/drawing/2014/main" id="{66A14008-580F-F9D3-F453-FA5B82A3D6D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95505" y="7518549"/>
            <a:ext cx="2706727" cy="495133"/>
          </a:xfrm>
          <a:prstGeom prst="rect">
            <a:avLst/>
          </a:prstGeom>
        </p:spPr>
      </p:pic>
      <p:sp>
        <p:nvSpPr>
          <p:cNvPr id="49" name="Rettangolo 48">
            <a:extLst>
              <a:ext uri="{FF2B5EF4-FFF2-40B4-BE49-F238E27FC236}">
                <a16:creationId xmlns:a16="http://schemas.microsoft.com/office/drawing/2014/main" id="{54905C5F-5D79-6D39-C389-F4FB46EAD632}"/>
              </a:ext>
            </a:extLst>
          </p:cNvPr>
          <p:cNvSpPr/>
          <p:nvPr/>
        </p:nvSpPr>
        <p:spPr>
          <a:xfrm>
            <a:off x="7844220" y="7641528"/>
            <a:ext cx="195259" cy="226864"/>
          </a:xfrm>
          <a:prstGeom prst="rect">
            <a:avLst/>
          </a:prstGeom>
          <a:noFill/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1" name="Connettore a gomito 50">
            <a:extLst>
              <a:ext uri="{FF2B5EF4-FFF2-40B4-BE49-F238E27FC236}">
                <a16:creationId xmlns:a16="http://schemas.microsoft.com/office/drawing/2014/main" id="{A06CF94F-ACA8-1118-6758-ECD37E9CE16E}"/>
              </a:ext>
            </a:extLst>
          </p:cNvPr>
          <p:cNvCxnSpPr>
            <a:cxnSpLocks/>
          </p:cNvCxnSpPr>
          <p:nvPr/>
        </p:nvCxnSpPr>
        <p:spPr>
          <a:xfrm rot="16200000" flipV="1">
            <a:off x="7633736" y="7332111"/>
            <a:ext cx="284745" cy="331483"/>
          </a:xfrm>
          <a:prstGeom prst="bentConnector3">
            <a:avLst>
              <a:gd name="adj1" fmla="val 50000"/>
            </a:avLst>
          </a:prstGeom>
          <a:ln>
            <a:solidFill>
              <a:srgbClr val="0F406B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Immagine 52">
            <a:extLst>
              <a:ext uri="{FF2B5EF4-FFF2-40B4-BE49-F238E27FC236}">
                <a16:creationId xmlns:a16="http://schemas.microsoft.com/office/drawing/2014/main" id="{B1DFD83C-6AC0-34CB-FA31-36B7A27FC4D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799795" y="10326339"/>
            <a:ext cx="1952625" cy="704850"/>
          </a:xfrm>
          <a:prstGeom prst="rect">
            <a:avLst/>
          </a:prstGeom>
        </p:spPr>
      </p:pic>
      <p:pic>
        <p:nvPicPr>
          <p:cNvPr id="55" name="Immagine 54">
            <a:extLst>
              <a:ext uri="{FF2B5EF4-FFF2-40B4-BE49-F238E27FC236}">
                <a16:creationId xmlns:a16="http://schemas.microsoft.com/office/drawing/2014/main" id="{279D3ABE-96D4-2F5E-A752-81E952698267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095505" y="8728547"/>
            <a:ext cx="2864709" cy="942534"/>
          </a:xfrm>
          <a:prstGeom prst="rect">
            <a:avLst/>
          </a:prstGeom>
        </p:spPr>
      </p:pic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807F80C6-D36D-DF47-4139-9766FC90F45E}"/>
              </a:ext>
            </a:extLst>
          </p:cNvPr>
          <p:cNvSpPr txBox="1"/>
          <p:nvPr/>
        </p:nvSpPr>
        <p:spPr>
          <a:xfrm>
            <a:off x="7475790" y="8499715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TKEO-MEAN</a:t>
            </a:r>
          </a:p>
        </p:txBody>
      </p:sp>
      <p:pic>
        <p:nvPicPr>
          <p:cNvPr id="61" name="Elemento grafico 60" descr="Fulmine con riempimento a tinta unita">
            <a:extLst>
              <a:ext uri="{FF2B5EF4-FFF2-40B4-BE49-F238E27FC236}">
                <a16:creationId xmlns:a16="http://schemas.microsoft.com/office/drawing/2014/main" id="{C0A82890-C7A9-0AEF-5C32-6765A99C766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146323" y="9050908"/>
            <a:ext cx="620173" cy="620173"/>
          </a:xfrm>
          <a:prstGeom prst="rect">
            <a:avLst/>
          </a:prstGeom>
        </p:spPr>
      </p:pic>
      <p:pic>
        <p:nvPicPr>
          <p:cNvPr id="62" name="Elemento grafico 61" descr="Collegamento con riempimento a tinta unita">
            <a:extLst>
              <a:ext uri="{FF2B5EF4-FFF2-40B4-BE49-F238E27FC236}">
                <a16:creationId xmlns:a16="http://schemas.microsoft.com/office/drawing/2014/main" id="{8E7C2086-93AA-5C87-838D-F16F06D8858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383795" y="7672289"/>
            <a:ext cx="554125" cy="554125"/>
          </a:xfrm>
          <a:prstGeom prst="rect">
            <a:avLst/>
          </a:prstGeom>
        </p:spPr>
      </p:pic>
      <p:pic>
        <p:nvPicPr>
          <p:cNvPr id="63" name="Elemento grafico 62" descr="Riduci con riempimento a tinta unita">
            <a:extLst>
              <a:ext uri="{FF2B5EF4-FFF2-40B4-BE49-F238E27FC236}">
                <a16:creationId xmlns:a16="http://schemas.microsoft.com/office/drawing/2014/main" id="{E1741360-1FC2-2E6C-B6E8-9BA92DF2EF99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210040" y="7640225"/>
            <a:ext cx="495134" cy="495134"/>
          </a:xfrm>
          <a:prstGeom prst="rect">
            <a:avLst/>
          </a:prstGeom>
        </p:spPr>
      </p:pic>
      <p:pic>
        <p:nvPicPr>
          <p:cNvPr id="66" name="Elemento grafico 65" descr="Ordina con riempimento a tinta unita">
            <a:extLst>
              <a:ext uri="{FF2B5EF4-FFF2-40B4-BE49-F238E27FC236}">
                <a16:creationId xmlns:a16="http://schemas.microsoft.com/office/drawing/2014/main" id="{5E1CA3A4-7A3A-8F5A-0BF5-9FE83B54597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169027" y="10595119"/>
            <a:ext cx="497589" cy="497589"/>
          </a:xfrm>
          <a:prstGeom prst="rect">
            <a:avLst/>
          </a:prstGeom>
        </p:spPr>
      </p:pic>
      <p:cxnSp>
        <p:nvCxnSpPr>
          <p:cNvPr id="69" name="Connettore a gomito 68">
            <a:extLst>
              <a:ext uri="{FF2B5EF4-FFF2-40B4-BE49-F238E27FC236}">
                <a16:creationId xmlns:a16="http://schemas.microsoft.com/office/drawing/2014/main" id="{71D9F4EF-8E53-8D1C-F8E9-966926B7C523}"/>
              </a:ext>
            </a:extLst>
          </p:cNvPr>
          <p:cNvCxnSpPr>
            <a:cxnSpLocks/>
            <a:stCxn id="14" idx="0"/>
            <a:endCxn id="13" idx="1"/>
          </p:cNvCxnSpPr>
          <p:nvPr/>
        </p:nvCxnSpPr>
        <p:spPr>
          <a:xfrm rot="5400000" flipH="1" flipV="1">
            <a:off x="2181465" y="7223535"/>
            <a:ext cx="150315" cy="458808"/>
          </a:xfrm>
          <a:prstGeom prst="bentConnector2">
            <a:avLst/>
          </a:prstGeom>
          <a:ln>
            <a:solidFill>
              <a:srgbClr val="0F406B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926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61500-7A4A-06EE-43A5-47370ABDD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o 46">
            <a:extLst>
              <a:ext uri="{FF2B5EF4-FFF2-40B4-BE49-F238E27FC236}">
                <a16:creationId xmlns:a16="http://schemas.microsoft.com/office/drawing/2014/main" id="{6AB32125-6D4C-4072-58D1-4176667D5E6A}"/>
              </a:ext>
            </a:extLst>
          </p:cNvPr>
          <p:cNvGrpSpPr/>
          <p:nvPr/>
        </p:nvGrpSpPr>
        <p:grpSpPr>
          <a:xfrm>
            <a:off x="117398" y="3462829"/>
            <a:ext cx="3863583" cy="701552"/>
            <a:chOff x="117394" y="3462829"/>
            <a:chExt cx="3863583" cy="701552"/>
          </a:xfrm>
        </p:grpSpPr>
        <p:pic>
          <p:nvPicPr>
            <p:cNvPr id="33" name="Immagine 32">
              <a:extLst>
                <a:ext uri="{FF2B5EF4-FFF2-40B4-BE49-F238E27FC236}">
                  <a16:creationId xmlns:a16="http://schemas.microsoft.com/office/drawing/2014/main" id="{8834FF56-F226-C905-4027-4F3190998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7394" y="3462829"/>
              <a:ext cx="2016920" cy="561928"/>
            </a:xfrm>
            <a:prstGeom prst="rect">
              <a:avLst/>
            </a:prstGeom>
          </p:spPr>
        </p:pic>
        <p:pic>
          <p:nvPicPr>
            <p:cNvPr id="25" name="Elemento grafico 24" descr="Frecce a zig zag contorno">
              <a:extLst>
                <a:ext uri="{FF2B5EF4-FFF2-40B4-BE49-F238E27FC236}">
                  <a16:creationId xmlns:a16="http://schemas.microsoft.com/office/drawing/2014/main" id="{F1DEB714-433D-35B4-B401-A2A035E72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200000">
              <a:off x="3488621" y="3672025"/>
              <a:ext cx="492356" cy="492356"/>
            </a:xfrm>
            <a:prstGeom prst="rect">
              <a:avLst/>
            </a:prstGeom>
          </p:spPr>
        </p:pic>
      </p:grpSp>
      <p:pic>
        <p:nvPicPr>
          <p:cNvPr id="35" name="Immagine 34">
            <a:extLst>
              <a:ext uri="{FF2B5EF4-FFF2-40B4-BE49-F238E27FC236}">
                <a16:creationId xmlns:a16="http://schemas.microsoft.com/office/drawing/2014/main" id="{B8F70B6A-7126-D4C7-9E1A-1132EB3C2F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017" y="2020493"/>
            <a:ext cx="2418019" cy="628057"/>
          </a:xfrm>
          <a:prstGeom prst="rect">
            <a:avLst/>
          </a:prstGeom>
        </p:spPr>
      </p:pic>
      <p:sp>
        <p:nvSpPr>
          <p:cNvPr id="6" name="Parallelogramma 5">
            <a:extLst>
              <a:ext uri="{FF2B5EF4-FFF2-40B4-BE49-F238E27FC236}">
                <a16:creationId xmlns:a16="http://schemas.microsoft.com/office/drawing/2014/main" id="{3234508B-82BE-876F-8C28-957BC1194301}"/>
              </a:ext>
            </a:extLst>
          </p:cNvPr>
          <p:cNvSpPr/>
          <p:nvPr/>
        </p:nvSpPr>
        <p:spPr>
          <a:xfrm>
            <a:off x="-238531" y="6376664"/>
            <a:ext cx="8472199" cy="481339"/>
          </a:xfrm>
          <a:prstGeom prst="parallelogram">
            <a:avLst/>
          </a:prstGeom>
          <a:solidFill>
            <a:srgbClr val="0F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1B68F77B-D9CA-1DE4-3D13-CA88C1B648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2" y="6376665"/>
            <a:ext cx="459463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4EDCA710-E80D-17F6-56DF-6D9ACB784C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10" y="6502433"/>
            <a:ext cx="2395665" cy="220877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FAF2287A-4CB3-898B-EF29-C0D53DAAB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1790" y="0"/>
            <a:ext cx="3400425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algn="ctr" eaLnBrk="1" hangingPunct="1"/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EATURE EXTRACTION: </a:t>
            </a:r>
          </a:p>
          <a:p>
            <a:pPr algn="ctr" eaLnBrk="1" hangingPunct="1"/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</a:t>
            </a:r>
            <a:r>
              <a:rPr lang="it-IT" sz="2000" b="1" err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Computation</a:t>
            </a:r>
            <a:endParaRPr lang="it-IT" sz="2000" b="1">
              <a:solidFill>
                <a:srgbClr val="0F40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1208C89-47CC-9140-9729-CAD3BAA2C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1787" y="-1945826"/>
            <a:ext cx="3400425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algn="ctr" eaLnBrk="1" hangingPunct="1"/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EATURE EXTRACTION: </a:t>
            </a:r>
          </a:p>
          <a:p>
            <a:pPr algn="ctr" eaLnBrk="1" hangingPunct="1"/>
            <a:r>
              <a:rPr lang="it-IT" sz="2000" b="1" err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Signals</a:t>
            </a:r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b="1" err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</a:t>
            </a:r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-processing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D5F737D-7024-A22F-40DF-CD6E6ED7DE1B}"/>
              </a:ext>
            </a:extLst>
          </p:cNvPr>
          <p:cNvSpPr txBox="1"/>
          <p:nvPr/>
        </p:nvSpPr>
        <p:spPr>
          <a:xfrm>
            <a:off x="85725" y="1567000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STIFFNESS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DCF8BB2-B221-B184-E697-18A63AE764D9}"/>
              </a:ext>
            </a:extLst>
          </p:cNvPr>
          <p:cNvSpPr txBox="1"/>
          <p:nvPr/>
        </p:nvSpPr>
        <p:spPr>
          <a:xfrm>
            <a:off x="85725" y="3039377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UPSTROKE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ACC7816-CEF7-A1FC-3EB1-BE83AD9A2941}"/>
              </a:ext>
            </a:extLst>
          </p:cNvPr>
          <p:cNvSpPr txBox="1"/>
          <p:nvPr/>
        </p:nvSpPr>
        <p:spPr>
          <a:xfrm>
            <a:off x="117397" y="4487823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DOWNSTROKE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EA872FFD-42ED-44C0-742A-5657800C23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86027" y="1751670"/>
            <a:ext cx="804916" cy="300631"/>
          </a:xfrm>
          <a:prstGeom prst="rect">
            <a:avLst/>
          </a:prstGeom>
        </p:spPr>
      </p:pic>
      <p:sp>
        <p:nvSpPr>
          <p:cNvPr id="20" name="Rettangolo 19">
            <a:extLst>
              <a:ext uri="{FF2B5EF4-FFF2-40B4-BE49-F238E27FC236}">
                <a16:creationId xmlns:a16="http://schemas.microsoft.com/office/drawing/2014/main" id="{664EDF1D-E333-FABD-EE23-3598C0E680B3}"/>
              </a:ext>
            </a:extLst>
          </p:cNvPr>
          <p:cNvSpPr/>
          <p:nvPr/>
        </p:nvSpPr>
        <p:spPr>
          <a:xfrm>
            <a:off x="1568413" y="2052297"/>
            <a:ext cx="917617" cy="226864"/>
          </a:xfrm>
          <a:prstGeom prst="rect">
            <a:avLst/>
          </a:prstGeom>
          <a:noFill/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8" name="Connettore a gomito 27">
            <a:extLst>
              <a:ext uri="{FF2B5EF4-FFF2-40B4-BE49-F238E27FC236}">
                <a16:creationId xmlns:a16="http://schemas.microsoft.com/office/drawing/2014/main" id="{3C7BC13A-DE74-7B0E-4D14-A6AE0A7F5B7C}"/>
              </a:ext>
            </a:extLst>
          </p:cNvPr>
          <p:cNvCxnSpPr>
            <a:stCxn id="20" idx="0"/>
            <a:endCxn id="17" idx="1"/>
          </p:cNvCxnSpPr>
          <p:nvPr/>
        </p:nvCxnSpPr>
        <p:spPr>
          <a:xfrm rot="5400000" flipH="1" flipV="1">
            <a:off x="2181468" y="1747736"/>
            <a:ext cx="150315" cy="458808"/>
          </a:xfrm>
          <a:prstGeom prst="bentConnector2">
            <a:avLst/>
          </a:prstGeom>
          <a:ln>
            <a:solidFill>
              <a:srgbClr val="0F406B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ttangolo 28">
            <a:extLst>
              <a:ext uri="{FF2B5EF4-FFF2-40B4-BE49-F238E27FC236}">
                <a16:creationId xmlns:a16="http://schemas.microsoft.com/office/drawing/2014/main" id="{918C21BA-9DC7-D74C-5EF4-0551E9445DBB}"/>
              </a:ext>
            </a:extLst>
          </p:cNvPr>
          <p:cNvSpPr/>
          <p:nvPr/>
        </p:nvSpPr>
        <p:spPr>
          <a:xfrm>
            <a:off x="85728" y="1567001"/>
            <a:ext cx="3914775" cy="1190604"/>
          </a:xfrm>
          <a:prstGeom prst="rect">
            <a:avLst/>
          </a:prstGeom>
          <a:noFill/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9F4A4A3A-F661-C02C-DDA3-CDA9093E8B3C}"/>
              </a:ext>
            </a:extLst>
          </p:cNvPr>
          <p:cNvSpPr/>
          <p:nvPr/>
        </p:nvSpPr>
        <p:spPr>
          <a:xfrm>
            <a:off x="85728" y="3023918"/>
            <a:ext cx="3914775" cy="1190604"/>
          </a:xfrm>
          <a:prstGeom prst="rect">
            <a:avLst/>
          </a:prstGeom>
          <a:noFill/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CC47DE56-5CE5-81A7-BF06-D457BA1208DC}"/>
              </a:ext>
            </a:extLst>
          </p:cNvPr>
          <p:cNvSpPr/>
          <p:nvPr/>
        </p:nvSpPr>
        <p:spPr>
          <a:xfrm>
            <a:off x="117398" y="4480835"/>
            <a:ext cx="3914775" cy="1190604"/>
          </a:xfrm>
          <a:prstGeom prst="rect">
            <a:avLst/>
          </a:prstGeom>
          <a:noFill/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4CAE0573-3996-85FB-1E20-607A0C85B8AC}"/>
              </a:ext>
            </a:extLst>
          </p:cNvPr>
          <p:cNvSpPr/>
          <p:nvPr/>
        </p:nvSpPr>
        <p:spPr>
          <a:xfrm>
            <a:off x="1465549" y="3503335"/>
            <a:ext cx="434928" cy="200397"/>
          </a:xfrm>
          <a:prstGeom prst="rect">
            <a:avLst/>
          </a:prstGeom>
          <a:noFill/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7A0D605F-18A1-D631-1166-D9DCCE5C5FF0}"/>
              </a:ext>
            </a:extLst>
          </p:cNvPr>
          <p:cNvSpPr/>
          <p:nvPr/>
        </p:nvSpPr>
        <p:spPr>
          <a:xfrm>
            <a:off x="885825" y="3513793"/>
            <a:ext cx="434928" cy="200397"/>
          </a:xfrm>
          <a:prstGeom prst="rect">
            <a:avLst/>
          </a:prstGeom>
          <a:noFill/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9" name="Immagine 38">
            <a:extLst>
              <a:ext uri="{FF2B5EF4-FFF2-40B4-BE49-F238E27FC236}">
                <a16:creationId xmlns:a16="http://schemas.microsoft.com/office/drawing/2014/main" id="{AB89BA82-EB11-8C31-9223-AC102A203D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76597" y="3182322"/>
            <a:ext cx="800100" cy="342900"/>
          </a:xfrm>
          <a:prstGeom prst="rect">
            <a:avLst/>
          </a:prstGeom>
        </p:spPr>
      </p:pic>
      <p:cxnSp>
        <p:nvCxnSpPr>
          <p:cNvPr id="40" name="Connettore a gomito 39">
            <a:extLst>
              <a:ext uri="{FF2B5EF4-FFF2-40B4-BE49-F238E27FC236}">
                <a16:creationId xmlns:a16="http://schemas.microsoft.com/office/drawing/2014/main" id="{57FD9973-0AC0-D3EA-238F-951743AB4693}"/>
              </a:ext>
            </a:extLst>
          </p:cNvPr>
          <p:cNvCxnSpPr>
            <a:cxnSpLocks/>
            <a:stCxn id="37" idx="0"/>
            <a:endCxn id="39" idx="1"/>
          </p:cNvCxnSpPr>
          <p:nvPr/>
        </p:nvCxnSpPr>
        <p:spPr>
          <a:xfrm rot="5400000" flipH="1" flipV="1">
            <a:off x="1659933" y="2797130"/>
            <a:ext cx="160020" cy="1273307"/>
          </a:xfrm>
          <a:prstGeom prst="bentConnector2">
            <a:avLst/>
          </a:prstGeom>
          <a:ln>
            <a:solidFill>
              <a:srgbClr val="0F406B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Immagine 42">
            <a:extLst>
              <a:ext uri="{FF2B5EF4-FFF2-40B4-BE49-F238E27FC236}">
                <a16:creationId xmlns:a16="http://schemas.microsoft.com/office/drawing/2014/main" id="{8980A926-2E62-A22E-13CC-6752BB2EFF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71781" y="3609962"/>
            <a:ext cx="804916" cy="300631"/>
          </a:xfrm>
          <a:prstGeom prst="rect">
            <a:avLst/>
          </a:prstGeom>
        </p:spPr>
      </p:pic>
      <p:cxnSp>
        <p:nvCxnSpPr>
          <p:cNvPr id="44" name="Connettore a gomito 43">
            <a:extLst>
              <a:ext uri="{FF2B5EF4-FFF2-40B4-BE49-F238E27FC236}">
                <a16:creationId xmlns:a16="http://schemas.microsoft.com/office/drawing/2014/main" id="{AE9C6A8B-0E78-C453-7CD6-EB44246FEB66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1900480" y="3609959"/>
            <a:ext cx="471303" cy="150316"/>
          </a:xfrm>
          <a:prstGeom prst="bentConnector3">
            <a:avLst>
              <a:gd name="adj1" fmla="val 50000"/>
            </a:avLst>
          </a:prstGeom>
          <a:ln>
            <a:solidFill>
              <a:srgbClr val="0F406B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Immagine 50">
            <a:extLst>
              <a:ext uri="{FF2B5EF4-FFF2-40B4-BE49-F238E27FC236}">
                <a16:creationId xmlns:a16="http://schemas.microsoft.com/office/drawing/2014/main" id="{178BE27B-E125-34AB-C362-0A8671D030B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96182" y="4595691"/>
            <a:ext cx="866775" cy="352425"/>
          </a:xfrm>
          <a:prstGeom prst="rect">
            <a:avLst/>
          </a:prstGeom>
        </p:spPr>
      </p:pic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3F7D2F8B-86FE-6B6E-9E94-0851977E108A}"/>
              </a:ext>
            </a:extLst>
          </p:cNvPr>
          <p:cNvSpPr txBox="1"/>
          <p:nvPr/>
        </p:nvSpPr>
        <p:spPr>
          <a:xfrm>
            <a:off x="6180566" y="1567000"/>
            <a:ext cx="2877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DAMPING COEFFICIENT</a:t>
            </a:r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DC2C97DB-7AD1-9B6F-14DE-079A5F557EC5}"/>
              </a:ext>
            </a:extLst>
          </p:cNvPr>
          <p:cNvSpPr/>
          <p:nvPr/>
        </p:nvSpPr>
        <p:spPr>
          <a:xfrm>
            <a:off x="5143503" y="1567001"/>
            <a:ext cx="3914775" cy="1190604"/>
          </a:xfrm>
          <a:prstGeom prst="rect">
            <a:avLst/>
          </a:prstGeom>
          <a:noFill/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0" name="Rettangolo 59">
            <a:extLst>
              <a:ext uri="{FF2B5EF4-FFF2-40B4-BE49-F238E27FC236}">
                <a16:creationId xmlns:a16="http://schemas.microsoft.com/office/drawing/2014/main" id="{67DDA453-9CA8-A05D-1BCC-AA5271D44729}"/>
              </a:ext>
            </a:extLst>
          </p:cNvPr>
          <p:cNvSpPr/>
          <p:nvPr/>
        </p:nvSpPr>
        <p:spPr>
          <a:xfrm>
            <a:off x="5143503" y="3023918"/>
            <a:ext cx="3914775" cy="1190604"/>
          </a:xfrm>
          <a:prstGeom prst="rect">
            <a:avLst/>
          </a:prstGeom>
          <a:noFill/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C79BC153-5C8E-A26E-BE36-D106339F1038}"/>
              </a:ext>
            </a:extLst>
          </p:cNvPr>
          <p:cNvSpPr txBox="1"/>
          <p:nvPr/>
        </p:nvSpPr>
        <p:spPr>
          <a:xfrm>
            <a:off x="7739075" y="4480833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MOBILITY</a:t>
            </a:r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547004D0-10FD-5E14-27B7-7EE97E95DE83}"/>
              </a:ext>
            </a:extLst>
          </p:cNvPr>
          <p:cNvSpPr/>
          <p:nvPr/>
        </p:nvSpPr>
        <p:spPr>
          <a:xfrm>
            <a:off x="5111835" y="4480834"/>
            <a:ext cx="3914775" cy="1190604"/>
          </a:xfrm>
          <a:prstGeom prst="rect">
            <a:avLst/>
          </a:prstGeom>
          <a:noFill/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8" name="Connettore diritto 67">
            <a:extLst>
              <a:ext uri="{FF2B5EF4-FFF2-40B4-BE49-F238E27FC236}">
                <a16:creationId xmlns:a16="http://schemas.microsoft.com/office/drawing/2014/main" id="{985B5161-0185-C442-2A06-AC3B4DE07C37}"/>
              </a:ext>
            </a:extLst>
          </p:cNvPr>
          <p:cNvCxnSpPr>
            <a:cxnSpLocks/>
          </p:cNvCxnSpPr>
          <p:nvPr/>
        </p:nvCxnSpPr>
        <p:spPr>
          <a:xfrm>
            <a:off x="4571999" y="1281251"/>
            <a:ext cx="0" cy="4781551"/>
          </a:xfrm>
          <a:prstGeom prst="line">
            <a:avLst/>
          </a:prstGeom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magine 11">
            <a:extLst>
              <a:ext uri="{FF2B5EF4-FFF2-40B4-BE49-F238E27FC236}">
                <a16:creationId xmlns:a16="http://schemas.microsoft.com/office/drawing/2014/main" id="{3E995040-FDFB-97FD-B42A-2772CA99E32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5508" y="2042753"/>
            <a:ext cx="2706727" cy="495133"/>
          </a:xfrm>
          <a:prstGeom prst="rect">
            <a:avLst/>
          </a:prstGeom>
        </p:spPr>
      </p:pic>
      <p:sp>
        <p:nvSpPr>
          <p:cNvPr id="13" name="Rettangolo 12">
            <a:extLst>
              <a:ext uri="{FF2B5EF4-FFF2-40B4-BE49-F238E27FC236}">
                <a16:creationId xmlns:a16="http://schemas.microsoft.com/office/drawing/2014/main" id="{E88AAEFE-2244-7BC7-3831-EE891763DFB3}"/>
              </a:ext>
            </a:extLst>
          </p:cNvPr>
          <p:cNvSpPr/>
          <p:nvPr/>
        </p:nvSpPr>
        <p:spPr>
          <a:xfrm>
            <a:off x="7844222" y="2165729"/>
            <a:ext cx="195259" cy="226864"/>
          </a:xfrm>
          <a:prstGeom prst="rect">
            <a:avLst/>
          </a:prstGeom>
          <a:noFill/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4" name="Connettore a gomito 13">
            <a:extLst>
              <a:ext uri="{FF2B5EF4-FFF2-40B4-BE49-F238E27FC236}">
                <a16:creationId xmlns:a16="http://schemas.microsoft.com/office/drawing/2014/main" id="{A8C1DCDC-952E-4088-3A3A-13CF52F0ED38}"/>
              </a:ext>
            </a:extLst>
          </p:cNvPr>
          <p:cNvCxnSpPr>
            <a:cxnSpLocks/>
          </p:cNvCxnSpPr>
          <p:nvPr/>
        </p:nvCxnSpPr>
        <p:spPr>
          <a:xfrm rot="16200000" flipV="1">
            <a:off x="7633739" y="1856314"/>
            <a:ext cx="284745" cy="331483"/>
          </a:xfrm>
          <a:prstGeom prst="bentConnector3">
            <a:avLst>
              <a:gd name="adj1" fmla="val 50000"/>
            </a:avLst>
          </a:prstGeom>
          <a:ln>
            <a:solidFill>
              <a:srgbClr val="0F406B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uppo 49">
            <a:extLst>
              <a:ext uri="{FF2B5EF4-FFF2-40B4-BE49-F238E27FC236}">
                <a16:creationId xmlns:a16="http://schemas.microsoft.com/office/drawing/2014/main" id="{A1A69224-333B-4166-A537-CFFA57FECCD0}"/>
              </a:ext>
            </a:extLst>
          </p:cNvPr>
          <p:cNvGrpSpPr/>
          <p:nvPr/>
        </p:nvGrpSpPr>
        <p:grpSpPr>
          <a:xfrm>
            <a:off x="244690" y="4874615"/>
            <a:ext cx="3733963" cy="779367"/>
            <a:chOff x="247014" y="4871801"/>
            <a:chExt cx="3733962" cy="779366"/>
          </a:xfrm>
        </p:grpSpPr>
        <p:pic>
          <p:nvPicPr>
            <p:cNvPr id="48" name="Immagine 47">
              <a:extLst>
                <a:ext uri="{FF2B5EF4-FFF2-40B4-BE49-F238E27FC236}">
                  <a16:creationId xmlns:a16="http://schemas.microsoft.com/office/drawing/2014/main" id="{F4D02938-C855-1F47-8E95-589915A33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7014" y="4871801"/>
              <a:ext cx="2239012" cy="712869"/>
            </a:xfrm>
            <a:prstGeom prst="rect">
              <a:avLst/>
            </a:prstGeom>
          </p:spPr>
        </p:pic>
        <p:pic>
          <p:nvPicPr>
            <p:cNvPr id="46" name="Elemento grafico 45" descr="Frecce a zig zag contorno">
              <a:extLst>
                <a:ext uri="{FF2B5EF4-FFF2-40B4-BE49-F238E27FC236}">
                  <a16:creationId xmlns:a16="http://schemas.microsoft.com/office/drawing/2014/main" id="{95BCED4C-7149-E578-8396-14FC47E35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5400000">
              <a:off x="3488620" y="5158811"/>
              <a:ext cx="492356" cy="492356"/>
            </a:xfrm>
            <a:prstGeom prst="rect">
              <a:avLst/>
            </a:prstGeom>
          </p:spPr>
        </p:pic>
      </p:grpSp>
      <p:pic>
        <p:nvPicPr>
          <p:cNvPr id="19" name="Immagine 18">
            <a:extLst>
              <a:ext uri="{FF2B5EF4-FFF2-40B4-BE49-F238E27FC236}">
                <a16:creationId xmlns:a16="http://schemas.microsoft.com/office/drawing/2014/main" id="{9E57C80D-B988-BD9D-38F8-8127F672BE3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99798" y="4850541"/>
            <a:ext cx="1952625" cy="704851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D1E9E4C2-D7CB-147E-E506-720C3C328DD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5508" y="3252750"/>
            <a:ext cx="2864709" cy="942535"/>
          </a:xfrm>
          <a:prstGeom prst="rect">
            <a:avLst/>
          </a:prstGeom>
        </p:spPr>
      </p:pic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5ACEF281-79C5-5493-A95F-D17FDAC68D70}"/>
              </a:ext>
            </a:extLst>
          </p:cNvPr>
          <p:cNvSpPr txBox="1"/>
          <p:nvPr/>
        </p:nvSpPr>
        <p:spPr>
          <a:xfrm>
            <a:off x="7475791" y="3023916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TKEO-MEAN</a:t>
            </a:r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62F311B7-026C-0483-6D1B-93FABC1CA96C}"/>
              </a:ext>
            </a:extLst>
          </p:cNvPr>
          <p:cNvCxnSpPr>
            <a:cxnSpLocks/>
          </p:cNvCxnSpPr>
          <p:nvPr/>
        </p:nvCxnSpPr>
        <p:spPr>
          <a:xfrm>
            <a:off x="2871788" y="861775"/>
            <a:ext cx="3471863" cy="0"/>
          </a:xfrm>
          <a:prstGeom prst="line">
            <a:avLst/>
          </a:prstGeom>
          <a:ln w="38100">
            <a:solidFill>
              <a:srgbClr val="0F4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Elemento grafico 26" descr="Fulmine con riempimento a tinta unita">
            <a:extLst>
              <a:ext uri="{FF2B5EF4-FFF2-40B4-BE49-F238E27FC236}">
                <a16:creationId xmlns:a16="http://schemas.microsoft.com/office/drawing/2014/main" id="{8D44CB29-C57D-C468-52B3-E20FAB4959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146325" y="3575112"/>
            <a:ext cx="620173" cy="620173"/>
          </a:xfrm>
          <a:prstGeom prst="rect">
            <a:avLst/>
          </a:prstGeom>
        </p:spPr>
      </p:pic>
      <p:pic>
        <p:nvPicPr>
          <p:cNvPr id="34" name="Elemento grafico 33" descr="Collegamento con riempimento a tinta unita">
            <a:extLst>
              <a:ext uri="{FF2B5EF4-FFF2-40B4-BE49-F238E27FC236}">
                <a16:creationId xmlns:a16="http://schemas.microsoft.com/office/drawing/2014/main" id="{33A693FD-002B-484D-6FD1-07DBDE87B11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383797" y="2196493"/>
            <a:ext cx="554125" cy="554125"/>
          </a:xfrm>
          <a:prstGeom prst="rect">
            <a:avLst/>
          </a:prstGeom>
        </p:spPr>
      </p:pic>
      <p:pic>
        <p:nvPicPr>
          <p:cNvPr id="41" name="Elemento grafico 40" descr="Riduci con riempimento a tinta unita">
            <a:extLst>
              <a:ext uri="{FF2B5EF4-FFF2-40B4-BE49-F238E27FC236}">
                <a16:creationId xmlns:a16="http://schemas.microsoft.com/office/drawing/2014/main" id="{C1FD20E7-52F7-19A9-1E0F-55401974084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210042" y="2164427"/>
            <a:ext cx="495135" cy="495135"/>
          </a:xfrm>
          <a:prstGeom prst="rect">
            <a:avLst/>
          </a:prstGeom>
        </p:spPr>
      </p:pic>
      <p:pic>
        <p:nvPicPr>
          <p:cNvPr id="45" name="Elemento grafico 44" descr="Ordina con riempimento a tinta unita">
            <a:extLst>
              <a:ext uri="{FF2B5EF4-FFF2-40B4-BE49-F238E27FC236}">
                <a16:creationId xmlns:a16="http://schemas.microsoft.com/office/drawing/2014/main" id="{5295BDA9-03E6-9012-0170-3329ED43DD9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169029" y="5119323"/>
            <a:ext cx="497589" cy="497589"/>
          </a:xfrm>
          <a:prstGeom prst="rect">
            <a:avLst/>
          </a:prstGeom>
        </p:spPr>
      </p:pic>
      <p:cxnSp>
        <p:nvCxnSpPr>
          <p:cNvPr id="52" name="Connettore a gomito 51">
            <a:extLst>
              <a:ext uri="{FF2B5EF4-FFF2-40B4-BE49-F238E27FC236}">
                <a16:creationId xmlns:a16="http://schemas.microsoft.com/office/drawing/2014/main" id="{E5D75943-5C65-5027-2DA5-D21AF6342DE3}"/>
              </a:ext>
            </a:extLst>
          </p:cNvPr>
          <p:cNvCxnSpPr>
            <a:cxnSpLocks/>
            <a:stCxn id="49" idx="0"/>
            <a:endCxn id="51" idx="1"/>
          </p:cNvCxnSpPr>
          <p:nvPr/>
        </p:nvCxnSpPr>
        <p:spPr>
          <a:xfrm rot="5400000" flipH="1" flipV="1">
            <a:off x="1939090" y="4228162"/>
            <a:ext cx="113348" cy="1200831"/>
          </a:xfrm>
          <a:prstGeom prst="bentConnector2">
            <a:avLst/>
          </a:prstGeom>
          <a:ln>
            <a:solidFill>
              <a:srgbClr val="0F406B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ttangolo 48">
            <a:extLst>
              <a:ext uri="{FF2B5EF4-FFF2-40B4-BE49-F238E27FC236}">
                <a16:creationId xmlns:a16="http://schemas.microsoft.com/office/drawing/2014/main" id="{20AF8C3D-2358-E155-0EE8-4287BB5A875B}"/>
              </a:ext>
            </a:extLst>
          </p:cNvPr>
          <p:cNvSpPr/>
          <p:nvPr/>
        </p:nvSpPr>
        <p:spPr>
          <a:xfrm>
            <a:off x="1177884" y="4885250"/>
            <a:ext cx="434928" cy="273563"/>
          </a:xfrm>
          <a:prstGeom prst="rect">
            <a:avLst/>
          </a:prstGeom>
          <a:noFill/>
          <a:ln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283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2EAE7-9870-7C15-7BD6-E368750E8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6DC17D70-6022-A515-3916-52EEFD0BA24D}"/>
              </a:ext>
            </a:extLst>
          </p:cNvPr>
          <p:cNvSpPr/>
          <p:nvPr/>
        </p:nvSpPr>
        <p:spPr>
          <a:xfrm>
            <a:off x="-238531" y="6376664"/>
            <a:ext cx="8472199" cy="481339"/>
          </a:xfrm>
          <a:prstGeom prst="parallelogram">
            <a:avLst/>
          </a:prstGeom>
          <a:solidFill>
            <a:srgbClr val="0F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5FA20915-861A-D043-058F-D66471B71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2" y="6376665"/>
            <a:ext cx="459463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6D1FBC80-03C6-96F4-B595-69EBD221E2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10" y="6502433"/>
            <a:ext cx="2395665" cy="220877"/>
          </a:xfrm>
          <a:prstGeom prst="rect">
            <a:avLst/>
          </a:prstGeom>
        </p:spPr>
      </p:pic>
      <p:sp>
        <p:nvSpPr>
          <p:cNvPr id="26" name="CasellaDiTesto 1">
            <a:extLst>
              <a:ext uri="{FF2B5EF4-FFF2-40B4-BE49-F238E27FC236}">
                <a16:creationId xmlns:a16="http://schemas.microsoft.com/office/drawing/2014/main" id="{35484A94-BECA-C332-220E-490783892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98" y="26286"/>
            <a:ext cx="467710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2800" b="1">
                <a:solidFill>
                  <a:srgbClr val="0F406B"/>
                </a:solidFill>
                <a:latin typeface="Arial"/>
                <a:cs typeface="Arial"/>
              </a:rPr>
              <a:t>D</a:t>
            </a:r>
            <a:r>
              <a:rPr lang="it-IT" sz="2000" b="1">
                <a:solidFill>
                  <a:srgbClr val="0F406B"/>
                </a:solidFill>
                <a:latin typeface="Arial"/>
                <a:cs typeface="Arial"/>
              </a:rPr>
              <a:t>ATASET PREPROCESSING</a:t>
            </a:r>
            <a:endParaRPr lang="it-IT" sz="2000">
              <a:solidFill>
                <a:srgbClr val="000000"/>
              </a:solidFill>
              <a:latin typeface="Arial"/>
              <a:cs typeface="Arial"/>
            </a:endParaRPr>
          </a:p>
          <a:p>
            <a:endParaRPr lang="it-IT" sz="2800" b="1">
              <a:solidFill>
                <a:srgbClr val="0F406B"/>
              </a:solidFill>
              <a:latin typeface="Arial"/>
              <a:cs typeface="Arial"/>
            </a:endParaRPr>
          </a:p>
        </p:txBody>
      </p:sp>
      <p:cxnSp>
        <p:nvCxnSpPr>
          <p:cNvPr id="27" name="Connettore diritto 15">
            <a:extLst>
              <a:ext uri="{FF2B5EF4-FFF2-40B4-BE49-F238E27FC236}">
                <a16:creationId xmlns:a16="http://schemas.microsoft.com/office/drawing/2014/main" id="{40F4FD44-D702-A163-D64A-4F61EA34BB36}"/>
              </a:ext>
            </a:extLst>
          </p:cNvPr>
          <p:cNvCxnSpPr>
            <a:cxnSpLocks/>
          </p:cNvCxnSpPr>
          <p:nvPr/>
        </p:nvCxnSpPr>
        <p:spPr>
          <a:xfrm>
            <a:off x="195432" y="485660"/>
            <a:ext cx="3375347" cy="0"/>
          </a:xfrm>
          <a:prstGeom prst="line">
            <a:avLst/>
          </a:prstGeom>
          <a:ln>
            <a:solidFill>
              <a:srgbClr val="0F406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screen shot of a graph&#10;&#10;AI-generated content may be incorrect.">
            <a:extLst>
              <a:ext uri="{FF2B5EF4-FFF2-40B4-BE49-F238E27FC236}">
                <a16:creationId xmlns:a16="http://schemas.microsoft.com/office/drawing/2014/main" id="{21055341-E364-0610-29A9-D3AE355AD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320718"/>
            <a:ext cx="9144000" cy="3056860"/>
          </a:xfrm>
          <a:prstGeom prst="rect">
            <a:avLst/>
          </a:prstGeom>
        </p:spPr>
      </p:pic>
      <p:sp>
        <p:nvSpPr>
          <p:cNvPr id="4" name="CasellaDiTesto 15">
            <a:extLst>
              <a:ext uri="{FF2B5EF4-FFF2-40B4-BE49-F238E27FC236}">
                <a16:creationId xmlns:a16="http://schemas.microsoft.com/office/drawing/2014/main" id="{E7E835A0-DDEE-E11C-AB03-52A6A28BC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45" y="1729327"/>
            <a:ext cx="34004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1600" b="1">
                <a:solidFill>
                  <a:srgbClr val="0F406B"/>
                </a:solidFill>
                <a:latin typeface="Arial"/>
                <a:cs typeface="Arial"/>
              </a:rPr>
              <a:t>SPATIAL SMOOTHING - MEDIAN</a:t>
            </a:r>
            <a:endParaRPr lang="en-US"/>
          </a:p>
        </p:txBody>
      </p:sp>
      <p:pic>
        <p:nvPicPr>
          <p:cNvPr id="5" name="Picture 4" descr="A blue cube with black text&#10;&#10;AI-generated content may be incorrect.">
            <a:extLst>
              <a:ext uri="{FF2B5EF4-FFF2-40B4-BE49-F238E27FC236}">
                <a16:creationId xmlns:a16="http://schemas.microsoft.com/office/drawing/2014/main" id="{E20DD9C7-4161-11C8-730F-F5FBB1D4C4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258" y="1028879"/>
            <a:ext cx="4032955" cy="2076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E5BF1C-5259-26C6-7BDE-760205E35B7D}"/>
              </a:ext>
            </a:extLst>
          </p:cNvPr>
          <p:cNvSpPr txBox="1"/>
          <p:nvPr/>
        </p:nvSpPr>
        <p:spPr>
          <a:xfrm>
            <a:off x="296900" y="2123873"/>
            <a:ext cx="4333107" cy="14028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44" indent="-285744" algn="just">
              <a:buFont typeface="Arial,Sans-Serif"/>
              <a:buChar char="•"/>
            </a:pPr>
            <a:r>
              <a:rPr lang="en-US" sz="1600">
                <a:latin typeface="Arial"/>
                <a:cs typeface="Arial"/>
              </a:rPr>
              <a:t>Perform a 3x3 spatial filtering using the median operation</a:t>
            </a:r>
          </a:p>
          <a:p>
            <a:pPr marL="285744" indent="-285744" algn="just">
              <a:buFont typeface="Arial,Sans-Serif"/>
              <a:buChar char="•"/>
            </a:pPr>
            <a:r>
              <a:rPr lang="en-US" sz="1600">
                <a:latin typeface="Arial"/>
                <a:cs typeface="Arial"/>
              </a:rPr>
              <a:t>Remove measurements noise and make the spatial data more homogenous</a:t>
            </a:r>
          </a:p>
          <a:p>
            <a:pPr marL="285744" indent="-285744" algn="just">
              <a:lnSpc>
                <a:spcPts val="2925"/>
              </a:lnSpc>
              <a:buFont typeface="Arial,Sans-Serif"/>
              <a:buChar char="•"/>
            </a:pPr>
            <a:endParaRPr lang="en-US" sz="1600">
              <a:latin typeface="Arial"/>
              <a:cs typeface="Arial"/>
            </a:endParaRPr>
          </a:p>
        </p:txBody>
      </p:sp>
      <p:sp>
        <p:nvSpPr>
          <p:cNvPr id="3" name="CasellaDiTesto 15">
            <a:extLst>
              <a:ext uri="{FF2B5EF4-FFF2-40B4-BE49-F238E27FC236}">
                <a16:creationId xmlns:a16="http://schemas.microsoft.com/office/drawing/2014/main" id="{AF9911F8-7E31-63C4-CFD1-BC8FA8249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45" y="650335"/>
            <a:ext cx="34004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1600" b="1" err="1">
                <a:solidFill>
                  <a:srgbClr val="0F406B"/>
                </a:solidFill>
                <a:latin typeface="Arial"/>
                <a:cs typeface="Arial"/>
              </a:rPr>
              <a:t>NaN</a:t>
            </a:r>
            <a:r>
              <a:rPr lang="it-IT" sz="1600" b="1">
                <a:solidFill>
                  <a:srgbClr val="0F406B"/>
                </a:solidFill>
                <a:latin typeface="Arial"/>
                <a:cs typeface="Arial"/>
              </a:rPr>
              <a:t> HANDLING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4D14E9-2E3A-DBD4-4AE5-17BB69D358A1}"/>
              </a:ext>
            </a:extLst>
          </p:cNvPr>
          <p:cNvSpPr txBox="1"/>
          <p:nvPr/>
        </p:nvSpPr>
        <p:spPr>
          <a:xfrm>
            <a:off x="296900" y="1063170"/>
            <a:ext cx="434529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44" indent="-285744" algn="just">
              <a:buFont typeface="Arial,Sans-Serif"/>
              <a:buChar char="•"/>
            </a:pPr>
            <a:r>
              <a:rPr lang="en-US" sz="1600">
                <a:latin typeface="Arial"/>
                <a:cs typeface="Arial"/>
              </a:rPr>
              <a:t>We used </a:t>
            </a:r>
            <a:r>
              <a:rPr lang="en-US" sz="1600" i="1" err="1">
                <a:latin typeface="Arial"/>
                <a:ea typeface="+mn-lt"/>
                <a:cs typeface="Arial"/>
              </a:rPr>
              <a:t>NearestNDInterpolator</a:t>
            </a:r>
            <a:r>
              <a:rPr lang="en-US" sz="1600" i="1">
                <a:latin typeface="Arial"/>
                <a:ea typeface="+mn-lt"/>
                <a:cs typeface="Arial"/>
              </a:rPr>
              <a:t> </a:t>
            </a:r>
            <a:r>
              <a:rPr lang="en-US" sz="1600">
                <a:latin typeface="Arial"/>
                <a:ea typeface="+mn-lt"/>
                <a:cs typeface="Arial"/>
              </a:rPr>
              <a:t>to fill feature points gaps in our 2D grid</a:t>
            </a:r>
          </a:p>
          <a:p>
            <a:pPr algn="just"/>
            <a:endParaRPr lang="en-US" sz="1600"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12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AB4DF-A914-5A6F-80EC-9F1E4D7E9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D544AD7F-F13D-8D1E-D7C3-6C1D9B3128CA}"/>
              </a:ext>
            </a:extLst>
          </p:cNvPr>
          <p:cNvSpPr/>
          <p:nvPr/>
        </p:nvSpPr>
        <p:spPr>
          <a:xfrm>
            <a:off x="-238531" y="6376664"/>
            <a:ext cx="8472199" cy="481339"/>
          </a:xfrm>
          <a:prstGeom prst="parallelogram">
            <a:avLst/>
          </a:prstGeom>
          <a:solidFill>
            <a:srgbClr val="0F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C71B8DBE-89E9-CCED-5307-7CA34EDB6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2" y="6376665"/>
            <a:ext cx="459463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3D06DC4C-5726-DEDA-7015-88B4758676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10" y="6502433"/>
            <a:ext cx="2395665" cy="220877"/>
          </a:xfrm>
          <a:prstGeom prst="rect">
            <a:avLst/>
          </a:prstGeom>
        </p:spPr>
      </p:pic>
      <p:sp>
        <p:nvSpPr>
          <p:cNvPr id="26" name="CasellaDiTesto 1">
            <a:extLst>
              <a:ext uri="{FF2B5EF4-FFF2-40B4-BE49-F238E27FC236}">
                <a16:creationId xmlns:a16="http://schemas.microsoft.com/office/drawing/2014/main" id="{C566D90F-CD36-D0C8-15AA-E63D7DC61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98" y="26286"/>
            <a:ext cx="467710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2800" b="1">
                <a:solidFill>
                  <a:srgbClr val="0F406B"/>
                </a:solidFill>
                <a:latin typeface="Arial"/>
                <a:cs typeface="Arial"/>
              </a:rPr>
              <a:t>D</a:t>
            </a:r>
            <a:r>
              <a:rPr lang="it-IT" sz="2000" b="1">
                <a:solidFill>
                  <a:srgbClr val="0F406B"/>
                </a:solidFill>
                <a:latin typeface="Arial"/>
                <a:cs typeface="Arial"/>
              </a:rPr>
              <a:t>ATASET PREPROCESSING</a:t>
            </a:r>
            <a:endParaRPr lang="it-IT" sz="2000">
              <a:solidFill>
                <a:srgbClr val="000000"/>
              </a:solidFill>
              <a:latin typeface="Arial"/>
              <a:cs typeface="Arial"/>
            </a:endParaRPr>
          </a:p>
          <a:p>
            <a:endParaRPr lang="it-IT" sz="2800" b="1">
              <a:solidFill>
                <a:srgbClr val="0F406B"/>
              </a:solidFill>
              <a:latin typeface="Arial"/>
              <a:cs typeface="Arial"/>
            </a:endParaRPr>
          </a:p>
        </p:txBody>
      </p:sp>
      <p:cxnSp>
        <p:nvCxnSpPr>
          <p:cNvPr id="27" name="Connettore diritto 15">
            <a:extLst>
              <a:ext uri="{FF2B5EF4-FFF2-40B4-BE49-F238E27FC236}">
                <a16:creationId xmlns:a16="http://schemas.microsoft.com/office/drawing/2014/main" id="{9D0B411B-EFC1-31E9-AD0B-ABAFEA132A1D}"/>
              </a:ext>
            </a:extLst>
          </p:cNvPr>
          <p:cNvCxnSpPr>
            <a:cxnSpLocks/>
          </p:cNvCxnSpPr>
          <p:nvPr/>
        </p:nvCxnSpPr>
        <p:spPr>
          <a:xfrm>
            <a:off x="195432" y="485660"/>
            <a:ext cx="3375347" cy="0"/>
          </a:xfrm>
          <a:prstGeom prst="line">
            <a:avLst/>
          </a:prstGeom>
          <a:ln>
            <a:solidFill>
              <a:srgbClr val="0F406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CasellaDiTesto 15">
            <a:extLst>
              <a:ext uri="{FF2B5EF4-FFF2-40B4-BE49-F238E27FC236}">
                <a16:creationId xmlns:a16="http://schemas.microsoft.com/office/drawing/2014/main" id="{2694A75A-4371-5969-FA23-8F50F2434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49" y="4106767"/>
            <a:ext cx="368084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1600" b="1">
                <a:solidFill>
                  <a:srgbClr val="0F406B"/>
                </a:solidFill>
                <a:latin typeface="Arial"/>
                <a:cs typeface="Arial"/>
              </a:rPr>
              <a:t>DATASET IMBALANCE - ADASYN 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6216AF-23B6-4844-358E-081912D192A8}"/>
              </a:ext>
            </a:extLst>
          </p:cNvPr>
          <p:cNvSpPr txBox="1"/>
          <p:nvPr/>
        </p:nvSpPr>
        <p:spPr>
          <a:xfrm>
            <a:off x="431012" y="4617138"/>
            <a:ext cx="4534275" cy="18952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44" indent="-285744" algn="just">
              <a:buFont typeface="Arial,Sans-Serif"/>
              <a:buChar char="•"/>
            </a:pPr>
            <a:r>
              <a:rPr lang="en-US" sz="1600">
                <a:latin typeface="Arial"/>
                <a:cs typeface="Arial"/>
              </a:rPr>
              <a:t>Works similar to SMOTE to perform minority classes oversample</a:t>
            </a:r>
            <a:endParaRPr lang="en-US"/>
          </a:p>
          <a:p>
            <a:pPr marL="285744" indent="-285744" algn="just">
              <a:buFont typeface="Arial,Sans-Serif"/>
              <a:buChar char="•"/>
            </a:pPr>
            <a:r>
              <a:rPr lang="en-US" sz="1600">
                <a:latin typeface="Arial"/>
                <a:ea typeface="+mn-lt"/>
                <a:cs typeface="Arial"/>
              </a:rPr>
              <a:t>But it favors points in low class density regions to start the oversampling and to generate points that are near the class decision boundaries</a:t>
            </a:r>
            <a:endParaRPr lang="en-US">
              <a:ea typeface="Calibri"/>
              <a:cs typeface="Calibri"/>
            </a:endParaRPr>
          </a:p>
          <a:p>
            <a:pPr marL="285744" indent="-285744" algn="just">
              <a:lnSpc>
                <a:spcPts val="2925"/>
              </a:lnSpc>
              <a:buFont typeface="Arial,Sans-Serif"/>
              <a:buChar char="•"/>
            </a:pPr>
            <a:endParaRPr lang="en-US" sz="1600">
              <a:latin typeface="Arial"/>
              <a:cs typeface="Arial"/>
            </a:endParaRPr>
          </a:p>
        </p:txBody>
      </p:sp>
      <p:sp>
        <p:nvSpPr>
          <p:cNvPr id="3" name="CasellaDiTesto 15">
            <a:extLst>
              <a:ext uri="{FF2B5EF4-FFF2-40B4-BE49-F238E27FC236}">
                <a16:creationId xmlns:a16="http://schemas.microsoft.com/office/drawing/2014/main" id="{676B83DD-66A9-348F-5C0D-EFEC2938B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49" y="900271"/>
            <a:ext cx="34004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1600" b="1">
                <a:solidFill>
                  <a:srgbClr val="0F406B"/>
                </a:solidFill>
                <a:latin typeface="Arial"/>
                <a:cs typeface="Arial"/>
              </a:rPr>
              <a:t>DB SPLITTING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7090A9-19DC-1B83-F369-7008B9CD64F6}"/>
              </a:ext>
            </a:extLst>
          </p:cNvPr>
          <p:cNvSpPr txBox="1"/>
          <p:nvPr/>
        </p:nvSpPr>
        <p:spPr>
          <a:xfrm>
            <a:off x="290804" y="1313105"/>
            <a:ext cx="2351907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44" indent="-285744">
              <a:buFont typeface="Arial,Sans-Serif"/>
              <a:buChar char="•"/>
            </a:pPr>
            <a:r>
              <a:rPr lang="en-US" sz="1600">
                <a:latin typeface="Arial"/>
                <a:cs typeface="Arial"/>
              </a:rPr>
              <a:t>We divided the three objects in train, validation and test datasets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903706-F323-0199-E661-E4F09A2256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2448" y="515694"/>
            <a:ext cx="6321552" cy="31687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7C7DDB-93BE-AA00-82EC-0316AAA1F7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5470" y="3853628"/>
            <a:ext cx="3946779" cy="233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62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F19D2-8ADE-8A0A-C7EB-9AD7819D8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7E91683D-D1E9-8A5A-92D5-23AEABAA27DC}"/>
              </a:ext>
            </a:extLst>
          </p:cNvPr>
          <p:cNvSpPr/>
          <p:nvPr/>
        </p:nvSpPr>
        <p:spPr>
          <a:xfrm>
            <a:off x="-238531" y="6376664"/>
            <a:ext cx="8472199" cy="481339"/>
          </a:xfrm>
          <a:prstGeom prst="parallelogram">
            <a:avLst/>
          </a:prstGeom>
          <a:solidFill>
            <a:srgbClr val="0F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63BE86A3-2EB1-7AA9-CD3A-F05A8818E9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2" y="6376665"/>
            <a:ext cx="459463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38A2C635-3B9F-A30B-46AA-D4D153DA1E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10" y="6502433"/>
            <a:ext cx="2395665" cy="220877"/>
          </a:xfrm>
          <a:prstGeom prst="rect">
            <a:avLst/>
          </a:prstGeom>
        </p:spPr>
      </p:pic>
      <p:sp>
        <p:nvSpPr>
          <p:cNvPr id="26" name="CasellaDiTesto 1">
            <a:extLst>
              <a:ext uri="{FF2B5EF4-FFF2-40B4-BE49-F238E27FC236}">
                <a16:creationId xmlns:a16="http://schemas.microsoft.com/office/drawing/2014/main" id="{EEB15D92-7F4C-60BF-09BD-19A81A10E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98" y="26286"/>
            <a:ext cx="467710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2800" b="1">
                <a:solidFill>
                  <a:srgbClr val="0F406B"/>
                </a:solidFill>
                <a:latin typeface="Arial"/>
                <a:cs typeface="Arial"/>
              </a:rPr>
              <a:t>D</a:t>
            </a:r>
            <a:r>
              <a:rPr lang="it-IT" sz="2000" b="1">
                <a:solidFill>
                  <a:srgbClr val="0F406B"/>
                </a:solidFill>
                <a:latin typeface="Arial"/>
                <a:cs typeface="Arial"/>
              </a:rPr>
              <a:t>ATASET PREPROCESSING</a:t>
            </a:r>
            <a:endParaRPr lang="it-IT" sz="2000">
              <a:solidFill>
                <a:srgbClr val="000000"/>
              </a:solidFill>
              <a:latin typeface="Arial"/>
              <a:cs typeface="Arial"/>
            </a:endParaRPr>
          </a:p>
          <a:p>
            <a:endParaRPr lang="it-IT" sz="2800" b="1">
              <a:solidFill>
                <a:srgbClr val="0F406B"/>
              </a:solidFill>
              <a:latin typeface="Arial"/>
              <a:cs typeface="Arial"/>
            </a:endParaRPr>
          </a:p>
        </p:txBody>
      </p:sp>
      <p:cxnSp>
        <p:nvCxnSpPr>
          <p:cNvPr id="27" name="Connettore diritto 15">
            <a:extLst>
              <a:ext uri="{FF2B5EF4-FFF2-40B4-BE49-F238E27FC236}">
                <a16:creationId xmlns:a16="http://schemas.microsoft.com/office/drawing/2014/main" id="{86ED1DAF-B91D-504B-E17F-520AC20C72EB}"/>
              </a:ext>
            </a:extLst>
          </p:cNvPr>
          <p:cNvCxnSpPr>
            <a:cxnSpLocks/>
          </p:cNvCxnSpPr>
          <p:nvPr/>
        </p:nvCxnSpPr>
        <p:spPr>
          <a:xfrm>
            <a:off x="195432" y="485660"/>
            <a:ext cx="3375347" cy="0"/>
          </a:xfrm>
          <a:prstGeom prst="line">
            <a:avLst/>
          </a:prstGeom>
          <a:ln>
            <a:solidFill>
              <a:srgbClr val="0F406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CasellaDiTesto 15">
            <a:extLst>
              <a:ext uri="{FF2B5EF4-FFF2-40B4-BE49-F238E27FC236}">
                <a16:creationId xmlns:a16="http://schemas.microsoft.com/office/drawing/2014/main" id="{231C4753-A596-9080-DE0D-09341DF7A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49" y="3119215"/>
            <a:ext cx="368084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1600" b="1">
                <a:solidFill>
                  <a:srgbClr val="0F406B"/>
                </a:solidFill>
                <a:latin typeface="Arial"/>
                <a:cs typeface="Arial"/>
              </a:rPr>
              <a:t>SPATIAL SMOOTHING - MAXIMUM</a:t>
            </a:r>
            <a:endParaRPr lang="en-US"/>
          </a:p>
        </p:txBody>
      </p:sp>
      <p:sp>
        <p:nvSpPr>
          <p:cNvPr id="3" name="CasellaDiTesto 15">
            <a:extLst>
              <a:ext uri="{FF2B5EF4-FFF2-40B4-BE49-F238E27FC236}">
                <a16:creationId xmlns:a16="http://schemas.microsoft.com/office/drawing/2014/main" id="{280F0D16-033E-2326-149E-60C8261B1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49" y="900271"/>
            <a:ext cx="34004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1600" b="1">
                <a:solidFill>
                  <a:srgbClr val="0F406B"/>
                </a:solidFill>
                <a:latin typeface="Arial"/>
                <a:cs typeface="Arial"/>
              </a:rPr>
              <a:t>SCALING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8AF3DC-F513-B8B6-522D-459AA3AE0EDC}"/>
              </a:ext>
            </a:extLst>
          </p:cNvPr>
          <p:cNvSpPr txBox="1"/>
          <p:nvPr/>
        </p:nvSpPr>
        <p:spPr>
          <a:xfrm>
            <a:off x="193268" y="1483795"/>
            <a:ext cx="367473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00">
              <a:latin typeface="Arial"/>
              <a:cs typeface="Arial"/>
            </a:endParaRPr>
          </a:p>
          <a:p>
            <a:pPr marL="285744" indent="-285744">
              <a:buFont typeface="Arial,Sans-Serif"/>
              <a:buChar char="•"/>
            </a:pPr>
            <a:r>
              <a:rPr lang="en-US" sz="1600">
                <a:latin typeface="Arial"/>
                <a:ea typeface="Calibri"/>
                <a:cs typeface="Arial"/>
              </a:rPr>
              <a:t>Avoid biases, improve Gradient Descent and regularization</a:t>
            </a:r>
          </a:p>
          <a:p>
            <a:pPr marL="285744" indent="-285744">
              <a:buFont typeface="Arial,Sans-Serif"/>
              <a:buChar char="•"/>
            </a:pPr>
            <a:r>
              <a:rPr lang="en-US" sz="1600">
                <a:latin typeface="Arial"/>
                <a:ea typeface="Calibri"/>
                <a:cs typeface="Arial"/>
              </a:rPr>
              <a:t>Flatten features drift that arise from different experiment conditions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51BB18-7322-BE51-D88F-947D47296E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467" b="-202"/>
          <a:stretch>
            <a:fillRect/>
          </a:stretch>
        </p:blipFill>
        <p:spPr>
          <a:xfrm>
            <a:off x="54866" y="3532586"/>
            <a:ext cx="5748535" cy="28408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C46695-36FC-80B5-1D0C-B18E0ECCCB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4886" y="708853"/>
            <a:ext cx="1973961" cy="953643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01A7432-F591-F872-1331-7744AAE75482}"/>
              </a:ext>
            </a:extLst>
          </p:cNvPr>
          <p:cNvGrpSpPr/>
          <p:nvPr/>
        </p:nvGrpSpPr>
        <p:grpSpPr>
          <a:xfrm>
            <a:off x="3869055" y="706528"/>
            <a:ext cx="5164836" cy="2727427"/>
            <a:chOff x="930820" y="1548383"/>
            <a:chExt cx="7188087" cy="356049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65E69F2-5225-16AE-5FB5-36D02103D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0820" y="1618152"/>
              <a:ext cx="3600450" cy="349072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4FE5854-7ED4-808D-B007-22B676E4B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57141" y="1548383"/>
              <a:ext cx="3461766" cy="348691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2410929-2BF2-71EC-DE32-FE41D461C604}"/>
              </a:ext>
            </a:extLst>
          </p:cNvPr>
          <p:cNvSpPr txBox="1"/>
          <p:nvPr/>
        </p:nvSpPr>
        <p:spPr>
          <a:xfrm>
            <a:off x="5943600" y="4450083"/>
            <a:ext cx="2907792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44" indent="-285744">
              <a:buFont typeface="Arial"/>
              <a:buChar char="•"/>
            </a:pPr>
            <a:r>
              <a:rPr lang="en-US" sz="1600" dirty="0">
                <a:latin typeface="Arial"/>
                <a:cs typeface="Arial"/>
              </a:rPr>
              <a:t>After detecting hard-spots points, we performed a 3x3 max filtering </a:t>
            </a:r>
          </a:p>
          <a:p>
            <a:pPr marL="285744" indent="-285744">
              <a:buFont typeface="Arial"/>
              <a:buChar char="•"/>
            </a:pPr>
            <a:r>
              <a:rPr lang="en-US" sz="1600" dirty="0">
                <a:latin typeface="Arial"/>
                <a:cs typeface="Arial"/>
              </a:rPr>
              <a:t>Final </a:t>
            </a:r>
            <a:r>
              <a:rPr lang="en-US" sz="1600" b="1" dirty="0">
                <a:latin typeface="Arial"/>
                <a:cs typeface="Arial"/>
              </a:rPr>
              <a:t>FOV</a:t>
            </a:r>
            <a:r>
              <a:rPr lang="en-US" sz="1600" dirty="0">
                <a:latin typeface="Arial"/>
                <a:cs typeface="Arial"/>
              </a:rPr>
              <a:t> of our approach: 5x5</a:t>
            </a:r>
          </a:p>
        </p:txBody>
      </p:sp>
    </p:spTree>
    <p:extLst>
      <p:ext uri="{BB962C8B-B14F-4D97-AF65-F5344CB8AC3E}">
        <p14:creationId xmlns:p14="http://schemas.microsoft.com/office/powerpoint/2010/main" val="1661560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F70C8-285D-577C-C588-D877EA1A4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6816816F-7991-0B47-CC4D-97E9F0439335}"/>
              </a:ext>
            </a:extLst>
          </p:cNvPr>
          <p:cNvSpPr/>
          <p:nvPr/>
        </p:nvSpPr>
        <p:spPr>
          <a:xfrm>
            <a:off x="-238531" y="6376664"/>
            <a:ext cx="8472199" cy="481339"/>
          </a:xfrm>
          <a:prstGeom prst="parallelogram">
            <a:avLst/>
          </a:prstGeom>
          <a:solidFill>
            <a:srgbClr val="0F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4804F320-0B87-1FE4-7EAB-7990602590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2" y="6376665"/>
            <a:ext cx="459463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2E2C65B9-DA92-4B7F-C603-347703513D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10" y="6502433"/>
            <a:ext cx="2395665" cy="220877"/>
          </a:xfrm>
          <a:prstGeom prst="rect">
            <a:avLst/>
          </a:prstGeom>
        </p:spPr>
      </p:pic>
      <p:sp>
        <p:nvSpPr>
          <p:cNvPr id="26" name="CasellaDiTesto 1">
            <a:extLst>
              <a:ext uri="{FF2B5EF4-FFF2-40B4-BE49-F238E27FC236}">
                <a16:creationId xmlns:a16="http://schemas.microsoft.com/office/drawing/2014/main" id="{8FEE02EC-91B8-F8BC-A0B2-7B85CAFE2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98" y="26285"/>
            <a:ext cx="467710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2800" b="1">
                <a:solidFill>
                  <a:srgbClr val="0F406B"/>
                </a:solidFill>
                <a:latin typeface="Arial"/>
                <a:cs typeface="Arial"/>
              </a:rPr>
              <a:t>F</a:t>
            </a:r>
            <a:r>
              <a:rPr lang="it-IT" sz="2000" b="1">
                <a:solidFill>
                  <a:srgbClr val="0F406B"/>
                </a:solidFill>
                <a:latin typeface="Arial"/>
                <a:cs typeface="Arial"/>
              </a:rPr>
              <a:t>EATURE SELECTION</a:t>
            </a:r>
          </a:p>
          <a:p>
            <a:endParaRPr lang="it-IT" sz="2800" b="1">
              <a:solidFill>
                <a:srgbClr val="0F406B"/>
              </a:solidFill>
              <a:latin typeface="Arial"/>
              <a:cs typeface="Arial"/>
            </a:endParaRPr>
          </a:p>
        </p:txBody>
      </p:sp>
      <p:cxnSp>
        <p:nvCxnSpPr>
          <p:cNvPr id="27" name="Connettore diritto 15">
            <a:extLst>
              <a:ext uri="{FF2B5EF4-FFF2-40B4-BE49-F238E27FC236}">
                <a16:creationId xmlns:a16="http://schemas.microsoft.com/office/drawing/2014/main" id="{EDF6459E-8219-22DF-95F3-EFA7ED685644}"/>
              </a:ext>
            </a:extLst>
          </p:cNvPr>
          <p:cNvCxnSpPr>
            <a:cxnSpLocks/>
          </p:cNvCxnSpPr>
          <p:nvPr/>
        </p:nvCxnSpPr>
        <p:spPr>
          <a:xfrm>
            <a:off x="110088" y="473468"/>
            <a:ext cx="2820611" cy="0"/>
          </a:xfrm>
          <a:prstGeom prst="line">
            <a:avLst/>
          </a:prstGeom>
          <a:ln>
            <a:solidFill>
              <a:srgbClr val="0F406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CasellaDiTesto 15">
            <a:extLst>
              <a:ext uri="{FF2B5EF4-FFF2-40B4-BE49-F238E27FC236}">
                <a16:creationId xmlns:a16="http://schemas.microsoft.com/office/drawing/2014/main" id="{591D8DE0-C442-F7AB-BF21-BB8485958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49" y="3119215"/>
            <a:ext cx="421728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1600" b="1">
                <a:solidFill>
                  <a:srgbClr val="0F406B"/>
                </a:solidFill>
                <a:latin typeface="Arial"/>
                <a:cs typeface="Arial"/>
              </a:rPr>
              <a:t>GLOBAL WASSERSTEIN DISTANCE</a:t>
            </a:r>
            <a:endParaRPr lang="en-US" err="1"/>
          </a:p>
        </p:txBody>
      </p:sp>
      <p:sp>
        <p:nvSpPr>
          <p:cNvPr id="3" name="CasellaDiTesto 15">
            <a:extLst>
              <a:ext uri="{FF2B5EF4-FFF2-40B4-BE49-F238E27FC236}">
                <a16:creationId xmlns:a16="http://schemas.microsoft.com/office/drawing/2014/main" id="{08D2BF29-0ED5-2D70-4E43-E2C413B78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45" y="601567"/>
            <a:ext cx="34004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1600" b="1">
                <a:solidFill>
                  <a:srgbClr val="0F406B"/>
                </a:solidFill>
                <a:latin typeface="Arial"/>
                <a:cs typeface="Arial"/>
              </a:rPr>
              <a:t>MUTUAL INFORMATION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1AB1AB-081C-A608-5DF4-7B0EFD9D35EB}"/>
              </a:ext>
            </a:extLst>
          </p:cNvPr>
          <p:cNvSpPr txBox="1"/>
          <p:nvPr/>
        </p:nvSpPr>
        <p:spPr>
          <a:xfrm>
            <a:off x="5699760" y="3553969"/>
            <a:ext cx="321259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44" indent="-285744">
              <a:buFont typeface="Arial"/>
              <a:buChar char="•"/>
            </a:pPr>
            <a:r>
              <a:rPr lang="en-US" sz="1600">
                <a:latin typeface="Arial"/>
                <a:ea typeface="+mn-lt"/>
                <a:cs typeface="Arial"/>
              </a:rPr>
              <a:t>We want to find invariant features among experiments</a:t>
            </a:r>
            <a:endParaRPr lang="en-US">
              <a:ea typeface="Calibri"/>
              <a:cs typeface="Calibri"/>
            </a:endParaRPr>
          </a:p>
          <a:p>
            <a:pPr marL="285744" indent="-285744">
              <a:buFont typeface="Arial"/>
              <a:buChar char="•"/>
            </a:pPr>
            <a:r>
              <a:rPr lang="en-US" sz="1600">
                <a:latin typeface="Arial"/>
                <a:ea typeface="+mn-lt"/>
                <a:cs typeface="Arial"/>
              </a:rPr>
              <a:t>Given two PDFs, one for training points and the other for validation points projected onto a single feature, their distance is defined as the minimum cost to </a:t>
            </a:r>
            <a:r>
              <a:rPr lang="en-US" sz="1600" b="1">
                <a:latin typeface="Arial"/>
                <a:ea typeface="+mn-lt"/>
                <a:cs typeface="Arial"/>
              </a:rPr>
              <a:t>transform </a:t>
            </a:r>
            <a:r>
              <a:rPr lang="en-US" sz="1600">
                <a:latin typeface="Arial"/>
                <a:ea typeface="+mn-lt"/>
                <a:cs typeface="Arial"/>
              </a:rPr>
              <a:t>one into the other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10" name="Picture 9" descr="A comparison of a graph&#10;&#10;AI-generated content may be incorrect.">
            <a:extLst>
              <a:ext uri="{FF2B5EF4-FFF2-40B4-BE49-F238E27FC236}">
                <a16:creationId xmlns:a16="http://schemas.microsoft.com/office/drawing/2014/main" id="{DFEA78FE-B21F-BB50-4683-FC8C6F3EC4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44888"/>
            <a:ext cx="9144000" cy="22787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690712-6928-1157-FF25-16046C0846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136" y="3551303"/>
            <a:ext cx="5380483" cy="262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37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EBAB1-884B-6AF2-72BE-D85A814BF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79C7FA20-B2C2-5DDA-5AA2-051BA6A99A91}"/>
              </a:ext>
            </a:extLst>
          </p:cNvPr>
          <p:cNvSpPr/>
          <p:nvPr/>
        </p:nvSpPr>
        <p:spPr>
          <a:xfrm>
            <a:off x="-238531" y="6376664"/>
            <a:ext cx="8472199" cy="481339"/>
          </a:xfrm>
          <a:prstGeom prst="parallelogram">
            <a:avLst/>
          </a:prstGeom>
          <a:solidFill>
            <a:srgbClr val="0F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BDE44B46-AE7F-2CD8-C29D-5031C6387C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2" y="6376665"/>
            <a:ext cx="459463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D557C886-67C3-A6D2-F527-63DC18AB1E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10" y="6502433"/>
            <a:ext cx="2395665" cy="220877"/>
          </a:xfrm>
          <a:prstGeom prst="rect">
            <a:avLst/>
          </a:prstGeom>
        </p:spPr>
      </p:pic>
      <p:sp>
        <p:nvSpPr>
          <p:cNvPr id="26" name="CasellaDiTesto 1">
            <a:extLst>
              <a:ext uri="{FF2B5EF4-FFF2-40B4-BE49-F238E27FC236}">
                <a16:creationId xmlns:a16="http://schemas.microsoft.com/office/drawing/2014/main" id="{26422D0B-D08B-8655-D3DB-310A34D7D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98" y="26285"/>
            <a:ext cx="467710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2800" b="1">
                <a:solidFill>
                  <a:srgbClr val="0F406B"/>
                </a:solidFill>
                <a:latin typeface="Arial"/>
                <a:cs typeface="Arial"/>
              </a:rPr>
              <a:t>F</a:t>
            </a:r>
            <a:r>
              <a:rPr lang="it-IT" sz="2000" b="1">
                <a:solidFill>
                  <a:srgbClr val="0F406B"/>
                </a:solidFill>
                <a:latin typeface="Arial"/>
                <a:cs typeface="Arial"/>
              </a:rPr>
              <a:t>EATURE SELECTION</a:t>
            </a:r>
          </a:p>
          <a:p>
            <a:endParaRPr lang="it-IT" sz="2800" b="1">
              <a:solidFill>
                <a:srgbClr val="0F406B"/>
              </a:solidFill>
              <a:latin typeface="Arial"/>
              <a:cs typeface="Arial"/>
            </a:endParaRPr>
          </a:p>
        </p:txBody>
      </p:sp>
      <p:cxnSp>
        <p:nvCxnSpPr>
          <p:cNvPr id="27" name="Connettore diritto 15">
            <a:extLst>
              <a:ext uri="{FF2B5EF4-FFF2-40B4-BE49-F238E27FC236}">
                <a16:creationId xmlns:a16="http://schemas.microsoft.com/office/drawing/2014/main" id="{8469B5C4-47A3-64CA-BABC-0035DAC16ABC}"/>
              </a:ext>
            </a:extLst>
          </p:cNvPr>
          <p:cNvCxnSpPr>
            <a:cxnSpLocks/>
          </p:cNvCxnSpPr>
          <p:nvPr/>
        </p:nvCxnSpPr>
        <p:spPr>
          <a:xfrm>
            <a:off x="110088" y="473468"/>
            <a:ext cx="2820611" cy="0"/>
          </a:xfrm>
          <a:prstGeom prst="line">
            <a:avLst/>
          </a:prstGeom>
          <a:ln>
            <a:solidFill>
              <a:srgbClr val="0F406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CasellaDiTesto 15">
            <a:extLst>
              <a:ext uri="{FF2B5EF4-FFF2-40B4-BE49-F238E27FC236}">
                <a16:creationId xmlns:a16="http://schemas.microsoft.com/office/drawing/2014/main" id="{F1E86F88-C1D3-E756-40A1-DE8FF405E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49" y="2850991"/>
            <a:ext cx="421728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1600" b="1">
                <a:solidFill>
                  <a:srgbClr val="0F406B"/>
                </a:solidFill>
                <a:latin typeface="Arial"/>
                <a:cs typeface="Arial"/>
              </a:rPr>
              <a:t>FEATURE SELECTION PIPELINE</a:t>
            </a:r>
          </a:p>
        </p:txBody>
      </p:sp>
      <p:sp>
        <p:nvSpPr>
          <p:cNvPr id="3" name="CasellaDiTesto 15">
            <a:extLst>
              <a:ext uri="{FF2B5EF4-FFF2-40B4-BE49-F238E27FC236}">
                <a16:creationId xmlns:a16="http://schemas.microsoft.com/office/drawing/2014/main" id="{41A90513-4B3E-B392-40F8-E9FF89F77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21" y="778354"/>
            <a:ext cx="40283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1600" b="1">
                <a:solidFill>
                  <a:srgbClr val="0F406B"/>
                </a:solidFill>
                <a:latin typeface="Arial"/>
                <a:cs typeface="Arial"/>
              </a:rPr>
              <a:t>PER-CLASS WASSERSTEIN DISTANCE</a:t>
            </a:r>
            <a:endParaRPr lang="it-IT" sz="1600">
              <a:solidFill>
                <a:srgbClr val="000000"/>
              </a:solidFill>
              <a:latin typeface="Arial"/>
              <a:cs typeface="Arial"/>
            </a:endParaRPr>
          </a:p>
          <a:p>
            <a:endParaRPr lang="it-IT" sz="1600" b="1">
              <a:solidFill>
                <a:srgbClr val="0F406B"/>
              </a:solidFill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A91E40-8030-BA72-17A4-2A87A0254F3D}"/>
              </a:ext>
            </a:extLst>
          </p:cNvPr>
          <p:cNvSpPr txBox="1"/>
          <p:nvPr/>
        </p:nvSpPr>
        <p:spPr>
          <a:xfrm>
            <a:off x="792480" y="3334513"/>
            <a:ext cx="766876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44" indent="-285744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th1 ∈ [0.025, 0.15], th2 ∈ [0.025, 0.2] for the two distances (MI not considered)</a:t>
            </a:r>
            <a:endParaRPr lang="en-US">
              <a:ea typeface="Calibri"/>
              <a:cs typeface="Calibri"/>
            </a:endParaRPr>
          </a:p>
          <a:p>
            <a:pPr marL="285744" indent="-285744">
              <a:buFont typeface="Arial"/>
              <a:buChar char="•"/>
            </a:pPr>
            <a:r>
              <a:rPr lang="en-US" sz="1600">
                <a:latin typeface="Calibri"/>
                <a:ea typeface="Calibri"/>
                <a:cs typeface="Calibri"/>
              </a:rPr>
              <a:t>For all the pairs of (th1, th2) find all the features sets with lower distances</a:t>
            </a:r>
          </a:p>
          <a:p>
            <a:pPr marL="285744" indent="-285744">
              <a:buFont typeface="Arial"/>
              <a:buChar char="•"/>
            </a:pPr>
            <a:r>
              <a:rPr lang="en-US" sz="1600">
                <a:latin typeface="Calibri"/>
                <a:ea typeface="Calibri"/>
                <a:cs typeface="Calibri"/>
              </a:rPr>
              <a:t>For each feature set with same number of features, calculate the silhouette score and keep only the higher one (since features clusters are approximately convex)</a:t>
            </a:r>
          </a:p>
          <a:p>
            <a:endParaRPr lang="en-US" sz="1600">
              <a:latin typeface="Calibri"/>
              <a:ea typeface="Calibri"/>
              <a:cs typeface="Calibri"/>
            </a:endParaRPr>
          </a:p>
          <a:p>
            <a:pPr marL="285744" indent="-285744">
              <a:buFont typeface="Arial"/>
              <a:buChar char="•"/>
            </a:pPr>
            <a:endParaRPr lang="en-US" sz="1600">
              <a:latin typeface="Arial"/>
              <a:ea typeface="Calibri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8FCFF5-4068-D36E-10B7-3118E70EAF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64419"/>
            <a:ext cx="9144000" cy="1590895"/>
          </a:xfrm>
          <a:prstGeom prst="rect">
            <a:avLst/>
          </a:prstGeom>
        </p:spPr>
      </p:pic>
      <p:pic>
        <p:nvPicPr>
          <p:cNvPr id="5" name="Picture 4" descr="A white rectangular box with black text&#10;&#10;AI-generated content may be incorrect.">
            <a:extLst>
              <a:ext uri="{FF2B5EF4-FFF2-40B4-BE49-F238E27FC236}">
                <a16:creationId xmlns:a16="http://schemas.microsoft.com/office/drawing/2014/main" id="{28383AE1-9E9A-CD8C-9A50-10D583BFB6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191" y="4594480"/>
            <a:ext cx="5731383" cy="1210819"/>
          </a:xfrm>
          <a:prstGeom prst="rect">
            <a:avLst/>
          </a:prstGeom>
        </p:spPr>
      </p:pic>
      <p:pic>
        <p:nvPicPr>
          <p:cNvPr id="9" name="Picture 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FD741D2-A60D-8535-5AF4-C543ACF7C0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1079" y="4806316"/>
            <a:ext cx="2419351" cy="781051"/>
          </a:xfrm>
          <a:prstGeom prst="rect">
            <a:avLst/>
          </a:prstGeom>
        </p:spPr>
      </p:pic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3D8E8E8C-277A-8349-1B33-0321ED9A6D5D}"/>
              </a:ext>
            </a:extLst>
          </p:cNvPr>
          <p:cNvCxnSpPr>
            <a:cxnSpLocks/>
          </p:cNvCxnSpPr>
          <p:nvPr/>
        </p:nvCxnSpPr>
        <p:spPr>
          <a:xfrm>
            <a:off x="-2058278" y="573978"/>
            <a:ext cx="1819747" cy="0"/>
          </a:xfrm>
          <a:prstGeom prst="line">
            <a:avLst/>
          </a:prstGeom>
          <a:ln w="38100">
            <a:solidFill>
              <a:srgbClr val="0F4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67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C7AF3-89A4-F8A7-5B51-855862D40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374C70F0-5EAE-22AF-A56E-B55079F7D331}"/>
              </a:ext>
            </a:extLst>
          </p:cNvPr>
          <p:cNvSpPr/>
          <p:nvPr/>
        </p:nvSpPr>
        <p:spPr>
          <a:xfrm>
            <a:off x="-238531" y="6376664"/>
            <a:ext cx="8472199" cy="481339"/>
          </a:xfrm>
          <a:prstGeom prst="parallelogram">
            <a:avLst/>
          </a:prstGeom>
          <a:solidFill>
            <a:srgbClr val="0F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0F74FDCA-7935-0AFE-F993-C8C1B36C5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2" y="6376665"/>
            <a:ext cx="459463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0ED139C5-1D3E-74D2-FCC8-3D60BD6446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10" y="6502433"/>
            <a:ext cx="2395665" cy="220877"/>
          </a:xfrm>
          <a:prstGeom prst="rect">
            <a:avLst/>
          </a:prstGeom>
        </p:spPr>
      </p:pic>
      <p:pic>
        <p:nvPicPr>
          <p:cNvPr id="10" name="Picture 9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CBA8FFE9-8675-C208-5E2C-A0A301D988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789" y="440280"/>
            <a:ext cx="2413635" cy="3067051"/>
          </a:xfrm>
          <a:prstGeom prst="rect">
            <a:avLst/>
          </a:prstGeom>
        </p:spPr>
      </p:pic>
      <p:sp>
        <p:nvSpPr>
          <p:cNvPr id="26" name="CasellaDiTesto 1">
            <a:extLst>
              <a:ext uri="{FF2B5EF4-FFF2-40B4-BE49-F238E27FC236}">
                <a16:creationId xmlns:a16="http://schemas.microsoft.com/office/drawing/2014/main" id="{1AE152A9-0DD8-2DAA-182C-9FCFCEEC8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98" y="1900"/>
            <a:ext cx="75483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2800" b="1">
                <a:solidFill>
                  <a:srgbClr val="0F406B"/>
                </a:solidFill>
                <a:latin typeface="Arial"/>
                <a:cs typeface="Arial"/>
              </a:rPr>
              <a:t>M</a:t>
            </a:r>
            <a:r>
              <a:rPr lang="it-IT" sz="2000" b="1">
                <a:solidFill>
                  <a:srgbClr val="0F406B"/>
                </a:solidFill>
                <a:latin typeface="Arial"/>
                <a:cs typeface="Arial"/>
              </a:rPr>
              <a:t>ODEL SELECTION AND HYPER-PARAMETERS TUNING</a:t>
            </a:r>
          </a:p>
        </p:txBody>
      </p:sp>
      <p:cxnSp>
        <p:nvCxnSpPr>
          <p:cNvPr id="27" name="Connettore diritto 15">
            <a:extLst>
              <a:ext uri="{FF2B5EF4-FFF2-40B4-BE49-F238E27FC236}">
                <a16:creationId xmlns:a16="http://schemas.microsoft.com/office/drawing/2014/main" id="{8548666D-DA9E-37AA-29AB-345AAE45AEDB}"/>
              </a:ext>
            </a:extLst>
          </p:cNvPr>
          <p:cNvCxnSpPr>
            <a:cxnSpLocks/>
          </p:cNvCxnSpPr>
          <p:nvPr/>
        </p:nvCxnSpPr>
        <p:spPr>
          <a:xfrm flipV="1">
            <a:off x="110088" y="467372"/>
            <a:ext cx="7051235" cy="6096"/>
          </a:xfrm>
          <a:prstGeom prst="line">
            <a:avLst/>
          </a:prstGeom>
          <a:ln>
            <a:solidFill>
              <a:srgbClr val="0F406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CasellaDiTesto 15">
            <a:extLst>
              <a:ext uri="{FF2B5EF4-FFF2-40B4-BE49-F238E27FC236}">
                <a16:creationId xmlns:a16="http://schemas.microsoft.com/office/drawing/2014/main" id="{F916704C-2B93-0B9A-9917-88C0948A5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49" y="2850991"/>
            <a:ext cx="421728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1600" b="1">
                <a:solidFill>
                  <a:srgbClr val="0F406B"/>
                </a:solidFill>
                <a:latin typeface="Arial"/>
                <a:cs typeface="Arial"/>
              </a:rPr>
              <a:t>RandomizedSearchCV</a:t>
            </a:r>
            <a:endParaRPr lang="en-US">
              <a:cs typeface="Arial"/>
            </a:endParaRPr>
          </a:p>
        </p:txBody>
      </p:sp>
      <p:sp>
        <p:nvSpPr>
          <p:cNvPr id="3" name="CasellaDiTesto 15">
            <a:extLst>
              <a:ext uri="{FF2B5EF4-FFF2-40B4-BE49-F238E27FC236}">
                <a16:creationId xmlns:a16="http://schemas.microsoft.com/office/drawing/2014/main" id="{5EED0599-5145-9F96-8258-222C5E465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45" y="778354"/>
            <a:ext cx="516826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1600" b="1">
                <a:solidFill>
                  <a:srgbClr val="0F406B"/>
                </a:solidFill>
                <a:latin typeface="Arial"/>
                <a:cs typeface="Arial"/>
              </a:rPr>
              <a:t>ENSEMBLE MODEL AND CROSS VALIDATION</a:t>
            </a:r>
            <a:endParaRPr lang="en-US"/>
          </a:p>
          <a:p>
            <a:endParaRPr lang="it-IT" sz="1600" b="1">
              <a:solidFill>
                <a:srgbClr val="0F406B"/>
              </a:solidFill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19699A-6582-A1D1-7FF6-2F6787A6856D}"/>
              </a:ext>
            </a:extLst>
          </p:cNvPr>
          <p:cNvSpPr txBox="1"/>
          <p:nvPr/>
        </p:nvSpPr>
        <p:spPr>
          <a:xfrm>
            <a:off x="4514537" y="3728871"/>
            <a:ext cx="451991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44" indent="-285744">
              <a:buFont typeface="Arial"/>
              <a:buChar char="•"/>
            </a:pPr>
            <a:r>
              <a:rPr lang="en-US" sz="1600">
                <a:latin typeface="Calibri"/>
                <a:ea typeface="Calibri"/>
                <a:cs typeface="Calibri"/>
              </a:rPr>
              <a:t>We define a randomized search over the features sets, the binary and multiclass models, and their hyperparameters</a:t>
            </a:r>
          </a:p>
          <a:p>
            <a:pPr marL="285744" indent="-285744">
              <a:buFont typeface="Arial"/>
              <a:buChar char="•"/>
            </a:pPr>
            <a:r>
              <a:rPr lang="en-US" sz="1600">
                <a:latin typeface="Calibri"/>
                <a:ea typeface="Calibri"/>
                <a:cs typeface="Calibri"/>
              </a:rPr>
              <a:t>The best parameters set is chosen by f1-score macro </a:t>
            </a:r>
          </a:p>
          <a:p>
            <a:pPr marL="285744" indent="-285744">
              <a:buFont typeface="Arial"/>
              <a:buChar char="•"/>
            </a:pPr>
            <a:endParaRPr lang="en-US" sz="1600">
              <a:latin typeface="Arial"/>
              <a:ea typeface="Calibri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CF55DA-5179-C8DA-2172-6D25E5D8A493}"/>
              </a:ext>
            </a:extLst>
          </p:cNvPr>
          <p:cNvSpPr txBox="1"/>
          <p:nvPr/>
        </p:nvSpPr>
        <p:spPr>
          <a:xfrm>
            <a:off x="536448" y="1261874"/>
            <a:ext cx="562051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44" indent="-285744">
              <a:buFont typeface="Arial,Sans-Serif"/>
              <a:buChar char="•"/>
            </a:pPr>
            <a:r>
              <a:rPr lang="en-US" sz="1600">
                <a:cs typeface="Arial"/>
              </a:rPr>
              <a:t>We defined a custom ensemble model with binary and multiclass classifiers</a:t>
            </a:r>
          </a:p>
          <a:p>
            <a:pPr marL="285744" indent="-285744">
              <a:buFont typeface="Arial,Sans-Serif"/>
              <a:buChar char="•"/>
            </a:pPr>
            <a:r>
              <a:rPr lang="en-US" sz="1600">
                <a:ea typeface="Calibri"/>
                <a:cs typeface="Arial"/>
              </a:rPr>
              <a:t>We perform a 2-fold cross validation, training before on train dataset and evaluating on validation and vice-versa</a:t>
            </a:r>
          </a:p>
          <a:p>
            <a:pPr marL="285744" indent="-285744">
              <a:buFont typeface="Arial,Sans-Serif"/>
              <a:buChar char="•"/>
            </a:pPr>
            <a:endParaRPr lang="en-US" sz="1600">
              <a:ea typeface="Calibri"/>
              <a:cs typeface="Arial"/>
            </a:endParaRPr>
          </a:p>
          <a:p>
            <a:pPr marL="285744" indent="-285744">
              <a:buFont typeface="Arial,Sans-Serif"/>
              <a:buChar char="•"/>
            </a:pPr>
            <a:endParaRPr lang="en-US" sz="1600">
              <a:ea typeface="Calibri"/>
              <a:cs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90E6E63-9A3B-6319-9A64-3333192140CC}"/>
              </a:ext>
            </a:extLst>
          </p:cNvPr>
          <p:cNvGrpSpPr/>
          <p:nvPr/>
        </p:nvGrpSpPr>
        <p:grpSpPr>
          <a:xfrm>
            <a:off x="198973" y="3238846"/>
            <a:ext cx="4094772" cy="3067011"/>
            <a:chOff x="1213104" y="3782332"/>
            <a:chExt cx="3965904" cy="2708423"/>
          </a:xfrm>
        </p:grpSpPr>
        <p:pic>
          <p:nvPicPr>
            <p:cNvPr id="12" name="Picture 11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A49CE114-EFE3-66C0-3214-9D396A5C9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542" r="73" b="39270"/>
            <a:stretch>
              <a:fillRect/>
            </a:stretch>
          </p:blipFill>
          <p:spPr>
            <a:xfrm>
              <a:off x="1213552" y="3782332"/>
              <a:ext cx="3965456" cy="1630305"/>
            </a:xfrm>
            <a:prstGeom prst="rect">
              <a:avLst/>
            </a:prstGeom>
          </p:spPr>
        </p:pic>
        <p:pic>
          <p:nvPicPr>
            <p:cNvPr id="13" name="Picture 12" descr="A screenshot of a computer code&#10;&#10;AI-generated content may be incorrect.">
              <a:extLst>
                <a:ext uri="{FF2B5EF4-FFF2-40B4-BE49-F238E27FC236}">
                  <a16:creationId xmlns:a16="http://schemas.microsoft.com/office/drawing/2014/main" id="{C2820621-13AD-022C-8A38-FEB5F59CD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518" b="-442"/>
            <a:stretch>
              <a:fillRect/>
            </a:stretch>
          </p:blipFill>
          <p:spPr>
            <a:xfrm>
              <a:off x="1213104" y="5410682"/>
              <a:ext cx="3962400" cy="1080073"/>
            </a:xfrm>
            <a:prstGeom prst="rect">
              <a:avLst/>
            </a:prstGeom>
          </p:spPr>
        </p:pic>
      </p:grpSp>
      <p:pic>
        <p:nvPicPr>
          <p:cNvPr id="17" name="Picture 16" descr="A white rectangular box with black text&#10;&#10;AI-generated content may be incorrect.">
            <a:extLst>
              <a:ext uri="{FF2B5EF4-FFF2-40B4-BE49-F238E27FC236}">
                <a16:creationId xmlns:a16="http://schemas.microsoft.com/office/drawing/2014/main" id="{0C4CC4D3-CB9E-F747-E893-9F4C374A785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236" r="20216"/>
          <a:stretch>
            <a:fillRect/>
          </a:stretch>
        </p:blipFill>
        <p:spPr>
          <a:xfrm>
            <a:off x="4629026" y="5202445"/>
            <a:ext cx="4050595" cy="1039885"/>
          </a:xfrm>
          <a:prstGeom prst="rect">
            <a:avLst/>
          </a:prstGeom>
        </p:spPr>
      </p:pic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CC173A21-FD94-A85F-22F6-136E3815BBD6}"/>
              </a:ext>
            </a:extLst>
          </p:cNvPr>
          <p:cNvCxnSpPr>
            <a:cxnSpLocks/>
          </p:cNvCxnSpPr>
          <p:nvPr/>
        </p:nvCxnSpPr>
        <p:spPr>
          <a:xfrm>
            <a:off x="-1957689" y="467372"/>
            <a:ext cx="1819747" cy="0"/>
          </a:xfrm>
          <a:prstGeom prst="line">
            <a:avLst/>
          </a:prstGeom>
          <a:ln w="38100">
            <a:solidFill>
              <a:srgbClr val="0F4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946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81833-7E5D-EEB0-FA81-60644B548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>
            <a:extLst>
              <a:ext uri="{FF2B5EF4-FFF2-40B4-BE49-F238E27FC236}">
                <a16:creationId xmlns:a16="http://schemas.microsoft.com/office/drawing/2014/main" id="{33F903D3-4862-7273-92C8-FE8D6BE6E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79" y="1691556"/>
            <a:ext cx="3516574" cy="1542962"/>
          </a:xfrm>
          <a:prstGeom prst="rect">
            <a:avLst/>
          </a:prstGeom>
        </p:spPr>
      </p:pic>
      <p:pic>
        <p:nvPicPr>
          <p:cNvPr id="38" name="Immagine 37" descr="Immagine che contiene testo, schermata, diagramma, numero&#10;&#10;Il contenuto generato dall'IA potrebbe non essere corretto.">
            <a:extLst>
              <a:ext uri="{FF2B5EF4-FFF2-40B4-BE49-F238E27FC236}">
                <a16:creationId xmlns:a16="http://schemas.microsoft.com/office/drawing/2014/main" id="{3B2E6781-08DF-588F-F409-C300D955C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460" y="3241969"/>
            <a:ext cx="197443" cy="86632"/>
          </a:xfrm>
          <a:prstGeom prst="rect">
            <a:avLst/>
          </a:prstGeom>
        </p:spPr>
      </p:pic>
      <p:sp>
        <p:nvSpPr>
          <p:cNvPr id="6" name="Parallelogramma 5">
            <a:extLst>
              <a:ext uri="{FF2B5EF4-FFF2-40B4-BE49-F238E27FC236}">
                <a16:creationId xmlns:a16="http://schemas.microsoft.com/office/drawing/2014/main" id="{7526B841-A049-BF67-43A3-D4ADB829F23A}"/>
              </a:ext>
            </a:extLst>
          </p:cNvPr>
          <p:cNvSpPr/>
          <p:nvPr/>
        </p:nvSpPr>
        <p:spPr>
          <a:xfrm>
            <a:off x="-238531" y="6376664"/>
            <a:ext cx="8472199" cy="481339"/>
          </a:xfrm>
          <a:prstGeom prst="parallelogram">
            <a:avLst/>
          </a:prstGeom>
          <a:solidFill>
            <a:srgbClr val="0F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81C54B1E-3854-C5F0-D471-BB6801B5A3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2" y="6376665"/>
            <a:ext cx="459463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5E7581D7-3684-38FB-49AC-D380A57E87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10" y="6502433"/>
            <a:ext cx="2395665" cy="220877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2481C5A-4A80-9DA9-36C6-B338316DD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" y="0"/>
            <a:ext cx="340042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eaLnBrk="1" hangingPunct="1"/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ESULTS</a:t>
            </a:r>
            <a:endParaRPr lang="it-IT" sz="1400" b="1">
              <a:solidFill>
                <a:srgbClr val="0F40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CC034298-C43C-2456-97DE-0BD6918FF98C}"/>
              </a:ext>
            </a:extLst>
          </p:cNvPr>
          <p:cNvCxnSpPr>
            <a:cxnSpLocks/>
          </p:cNvCxnSpPr>
          <p:nvPr/>
        </p:nvCxnSpPr>
        <p:spPr>
          <a:xfrm>
            <a:off x="126750" y="593643"/>
            <a:ext cx="1819747" cy="0"/>
          </a:xfrm>
          <a:prstGeom prst="line">
            <a:avLst/>
          </a:prstGeom>
          <a:ln w="38100">
            <a:solidFill>
              <a:srgbClr val="0F4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47A22F5-618E-B314-3722-A00F56A3A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57" y="747871"/>
            <a:ext cx="34004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eaLnBrk="1" hangingPunct="1"/>
            <a:r>
              <a:rPr lang="it-IT" sz="16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COMBINATIONS :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FE07B55-E79E-06A1-1A48-B38D2CC69D97}"/>
              </a:ext>
            </a:extLst>
          </p:cNvPr>
          <p:cNvSpPr txBox="1"/>
          <p:nvPr/>
        </p:nvSpPr>
        <p:spPr>
          <a:xfrm>
            <a:off x="126750" y="5718970"/>
            <a:ext cx="685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Best </a:t>
            </a:r>
            <a:r>
              <a:rPr lang="it-IT" err="1">
                <a:latin typeface="Arial" panose="020B0604020202020204" pitchFamily="34" charset="0"/>
                <a:cs typeface="Arial" panose="020B0604020202020204" pitchFamily="34" charset="0"/>
              </a:rPr>
              <a:t>achieved</a:t>
            </a:r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f1-macro score </a:t>
            </a:r>
            <a:r>
              <a:rPr lang="it-IT" err="1">
                <a:latin typeface="Arial" panose="020B0604020202020204" pitchFamily="34" charset="0"/>
                <a:cs typeface="Arial" panose="020B0604020202020204" pitchFamily="34" charset="0"/>
              </a:rPr>
              <a:t>during</a:t>
            </a:r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err="1">
                <a:latin typeface="Arial" panose="020B0604020202020204" pitchFamily="34" charset="0"/>
                <a:cs typeface="Arial" panose="020B0604020202020204" pitchFamily="34" charset="0"/>
              </a:rPr>
              <a:t>RandomSearchCV</a:t>
            </a:r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0.787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ECC6075-017B-0574-488C-46C7F82C5F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55" y="1054576"/>
            <a:ext cx="8917663" cy="4664395"/>
          </a:xfrm>
          <a:prstGeom prst="rect">
            <a:avLst/>
          </a:prstGeom>
        </p:spPr>
      </p:pic>
      <p:sp>
        <p:nvSpPr>
          <p:cNvPr id="9" name="CasellaDiTesto 1">
            <a:extLst>
              <a:ext uri="{FF2B5EF4-FFF2-40B4-BE49-F238E27FC236}">
                <a16:creationId xmlns:a16="http://schemas.microsoft.com/office/drawing/2014/main" id="{4B3C9E39-FC8F-FECF-1151-3A70A75DC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42567" y="-509677"/>
            <a:ext cx="75483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2800" b="1" dirty="0">
                <a:solidFill>
                  <a:srgbClr val="0F406B"/>
                </a:solidFill>
                <a:latin typeface="Arial"/>
                <a:cs typeface="Arial"/>
              </a:rPr>
              <a:t>Considering the Binary Case (1)</a:t>
            </a:r>
          </a:p>
        </p:txBody>
      </p:sp>
    </p:spTree>
    <p:extLst>
      <p:ext uri="{BB962C8B-B14F-4D97-AF65-F5344CB8AC3E}">
        <p14:creationId xmlns:p14="http://schemas.microsoft.com/office/powerpoint/2010/main" val="707321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E6CD4-B477-7424-4657-9EA3A6945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950B5FA7-90F0-69F4-4D0A-EF35F4DB23C8}"/>
              </a:ext>
            </a:extLst>
          </p:cNvPr>
          <p:cNvSpPr/>
          <p:nvPr/>
        </p:nvSpPr>
        <p:spPr>
          <a:xfrm>
            <a:off x="-238531" y="6376664"/>
            <a:ext cx="8472199" cy="481339"/>
          </a:xfrm>
          <a:prstGeom prst="parallelogram">
            <a:avLst/>
          </a:prstGeom>
          <a:solidFill>
            <a:srgbClr val="0F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6746EB0E-70F3-94D0-15A1-69EA49869F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2" y="6376665"/>
            <a:ext cx="459463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F4C2A008-D867-FA10-8FAA-98A265E0C6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10" y="6502433"/>
            <a:ext cx="2395665" cy="220877"/>
          </a:xfrm>
          <a:prstGeom prst="rect">
            <a:avLst/>
          </a:prstGeom>
        </p:spPr>
      </p:pic>
      <p:sp>
        <p:nvSpPr>
          <p:cNvPr id="26" name="CasellaDiTesto 1">
            <a:extLst>
              <a:ext uri="{FF2B5EF4-FFF2-40B4-BE49-F238E27FC236}">
                <a16:creationId xmlns:a16="http://schemas.microsoft.com/office/drawing/2014/main" id="{C5EAB9CC-9C89-3D4F-C4AE-343A7FC75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98" y="1900"/>
            <a:ext cx="75483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2800" b="1" dirty="0">
                <a:solidFill>
                  <a:srgbClr val="0F406B"/>
                </a:solidFill>
                <a:latin typeface="Arial"/>
                <a:cs typeface="Arial"/>
              </a:rPr>
              <a:t>Considering the Binary Case (1)</a:t>
            </a:r>
          </a:p>
        </p:txBody>
      </p:sp>
      <p:cxnSp>
        <p:nvCxnSpPr>
          <p:cNvPr id="27" name="Connettore diritto 15">
            <a:extLst>
              <a:ext uri="{FF2B5EF4-FFF2-40B4-BE49-F238E27FC236}">
                <a16:creationId xmlns:a16="http://schemas.microsoft.com/office/drawing/2014/main" id="{995E34A1-977F-A19F-3887-6FA2059EF004}"/>
              </a:ext>
            </a:extLst>
          </p:cNvPr>
          <p:cNvCxnSpPr>
            <a:cxnSpLocks/>
          </p:cNvCxnSpPr>
          <p:nvPr/>
        </p:nvCxnSpPr>
        <p:spPr>
          <a:xfrm>
            <a:off x="208410" y="567341"/>
            <a:ext cx="5450055" cy="0"/>
          </a:xfrm>
          <a:prstGeom prst="line">
            <a:avLst/>
          </a:prstGeom>
          <a:ln>
            <a:solidFill>
              <a:srgbClr val="0F406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1046B84D-9F86-79F0-B479-1565CEEDCF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78" y="1691555"/>
            <a:ext cx="7919643" cy="347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004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1B78F-74DD-6730-04AE-04395E710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F9AE2922-69D9-ED7E-DEE2-20011B40E298}"/>
              </a:ext>
            </a:extLst>
          </p:cNvPr>
          <p:cNvSpPr/>
          <p:nvPr/>
        </p:nvSpPr>
        <p:spPr>
          <a:xfrm>
            <a:off x="-238531" y="6376664"/>
            <a:ext cx="8472199" cy="481339"/>
          </a:xfrm>
          <a:prstGeom prst="parallelogram">
            <a:avLst/>
          </a:prstGeom>
          <a:solidFill>
            <a:srgbClr val="0F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D18407DF-311D-CC0B-478C-3BD085DC78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2" y="6376665"/>
            <a:ext cx="459463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8456C8FF-E08D-3145-B65F-CD0BB5CD67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10" y="6502433"/>
            <a:ext cx="2395665" cy="220877"/>
          </a:xfrm>
          <a:prstGeom prst="rect">
            <a:avLst/>
          </a:prstGeom>
        </p:spPr>
      </p:pic>
      <p:sp>
        <p:nvSpPr>
          <p:cNvPr id="26" name="CasellaDiTesto 1">
            <a:extLst>
              <a:ext uri="{FF2B5EF4-FFF2-40B4-BE49-F238E27FC236}">
                <a16:creationId xmlns:a16="http://schemas.microsoft.com/office/drawing/2014/main" id="{01F04D3F-A3E8-D61A-5E7B-36613AB1B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98" y="1900"/>
            <a:ext cx="75483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2800" b="1" dirty="0">
                <a:solidFill>
                  <a:srgbClr val="0F406B"/>
                </a:solidFill>
                <a:latin typeface="Arial"/>
                <a:cs typeface="Arial"/>
              </a:rPr>
              <a:t>Considering the Binary Case (2)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D3811E-93E1-2D38-F9CA-95262A0CD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686" y="623006"/>
            <a:ext cx="5666628" cy="5697993"/>
          </a:xfrm>
          <a:prstGeom prst="rect">
            <a:avLst/>
          </a:prstGeom>
        </p:spPr>
      </p:pic>
      <p:cxnSp>
        <p:nvCxnSpPr>
          <p:cNvPr id="2" name="Connettore diritto 15">
            <a:extLst>
              <a:ext uri="{FF2B5EF4-FFF2-40B4-BE49-F238E27FC236}">
                <a16:creationId xmlns:a16="http://schemas.microsoft.com/office/drawing/2014/main" id="{F9B79730-89A8-0B0A-ABD0-D160B1BBD9F9}"/>
              </a:ext>
            </a:extLst>
          </p:cNvPr>
          <p:cNvCxnSpPr>
            <a:cxnSpLocks/>
          </p:cNvCxnSpPr>
          <p:nvPr/>
        </p:nvCxnSpPr>
        <p:spPr>
          <a:xfrm>
            <a:off x="208410" y="567341"/>
            <a:ext cx="5450055" cy="0"/>
          </a:xfrm>
          <a:prstGeom prst="line">
            <a:avLst/>
          </a:prstGeom>
          <a:ln>
            <a:solidFill>
              <a:srgbClr val="0F406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Elemento grafico 4" descr="Punto esclamativo con riempimento a tinta unita">
            <a:extLst>
              <a:ext uri="{FF2B5EF4-FFF2-40B4-BE49-F238E27FC236}">
                <a16:creationId xmlns:a16="http://schemas.microsoft.com/office/drawing/2014/main" id="{1EF73CAE-BC15-2C60-8070-26390A7FE4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9043" y="2800522"/>
            <a:ext cx="1108587" cy="1108587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A86DA13C-0829-8604-7CB9-E8DC8787F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0418" y="151525"/>
            <a:ext cx="34004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eaLnBrk="1" hangingPunct="1"/>
            <a:r>
              <a:rPr lang="it-IT" sz="1600" b="1" dirty="0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CONFUSION MATRICES : </a:t>
            </a:r>
          </a:p>
        </p:txBody>
      </p:sp>
      <p:pic>
        <p:nvPicPr>
          <p:cNvPr id="10" name="Immagine 9" descr="Immagine che contiene testo, schermata, diagramma, numero&#10;&#10;Il contenuto generato dall'IA potrebbe non essere corretto.">
            <a:extLst>
              <a:ext uri="{FF2B5EF4-FFF2-40B4-BE49-F238E27FC236}">
                <a16:creationId xmlns:a16="http://schemas.microsoft.com/office/drawing/2014/main" id="{05FCCC19-B5D6-7CF5-7ED9-83048DB03C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7432" y="623006"/>
            <a:ext cx="8736464" cy="383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0800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69940-C517-D986-4964-6EA28E2ED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40B94EE1-C05B-E175-A046-EE2E55432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2" y="3120284"/>
            <a:ext cx="609599" cy="248736"/>
          </a:xfrm>
          <a:prstGeom prst="rect">
            <a:avLst/>
          </a:prstGeom>
        </p:spPr>
      </p:pic>
      <p:sp>
        <p:nvSpPr>
          <p:cNvPr id="6" name="Parallelogramma 5">
            <a:extLst>
              <a:ext uri="{FF2B5EF4-FFF2-40B4-BE49-F238E27FC236}">
                <a16:creationId xmlns:a16="http://schemas.microsoft.com/office/drawing/2014/main" id="{89849171-3954-A64D-FB47-846929ED269C}"/>
              </a:ext>
            </a:extLst>
          </p:cNvPr>
          <p:cNvSpPr/>
          <p:nvPr/>
        </p:nvSpPr>
        <p:spPr>
          <a:xfrm>
            <a:off x="-238531" y="6376664"/>
            <a:ext cx="8472199" cy="481339"/>
          </a:xfrm>
          <a:prstGeom prst="parallelogram">
            <a:avLst/>
          </a:prstGeom>
          <a:solidFill>
            <a:srgbClr val="0F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BFEDB939-21C0-E98E-C082-E3D7B4E5C3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2" y="6376665"/>
            <a:ext cx="459463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FFC1BD88-DCD3-EF09-1BD0-B54FA3C92E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10" y="6502433"/>
            <a:ext cx="2395665" cy="220877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E45FA536-0295-19F9-59E6-F5B518DBF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716577"/>
            <a:ext cx="340042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eaLnBrk="1" hangingPunct="1"/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ESULTS</a:t>
            </a:r>
            <a:endParaRPr lang="it-IT" sz="1400" b="1">
              <a:solidFill>
                <a:srgbClr val="0F40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30BFEAF6-10E1-FE8A-EBB0-BFB023770657}"/>
              </a:ext>
            </a:extLst>
          </p:cNvPr>
          <p:cNvCxnSpPr>
            <a:cxnSpLocks/>
          </p:cNvCxnSpPr>
          <p:nvPr/>
        </p:nvCxnSpPr>
        <p:spPr>
          <a:xfrm>
            <a:off x="126749" y="-122934"/>
            <a:ext cx="1819746" cy="0"/>
          </a:xfrm>
          <a:prstGeom prst="line">
            <a:avLst/>
          </a:prstGeom>
          <a:ln w="38100">
            <a:solidFill>
              <a:srgbClr val="0F4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3810984-74C5-5855-C473-B2E45AD4A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753" y="258182"/>
            <a:ext cx="34004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eaLnBrk="1" hangingPunct="1"/>
            <a:r>
              <a:rPr lang="it-IT" sz="1600" b="1" dirty="0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CONFUSION MATRICES : </a:t>
            </a:r>
          </a:p>
        </p:txBody>
      </p:sp>
      <p:pic>
        <p:nvPicPr>
          <p:cNvPr id="5" name="Immagine 4" descr="Immagine che contiene testo, schermata, diagramma, numero&#10;&#10;Il contenuto generato dall'IA potrebbe non essere corretto.">
            <a:extLst>
              <a:ext uri="{FF2B5EF4-FFF2-40B4-BE49-F238E27FC236}">
                <a16:creationId xmlns:a16="http://schemas.microsoft.com/office/drawing/2014/main" id="{0D7C3526-5BF6-5BA2-5547-EA371225F3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767" y="729663"/>
            <a:ext cx="8736464" cy="3833287"/>
          </a:xfrm>
          <a:prstGeom prst="rect">
            <a:avLst/>
          </a:prstGeom>
        </p:spPr>
      </p:pic>
      <p:sp>
        <p:nvSpPr>
          <p:cNvPr id="9" name="Parentesi quadra aperta 8">
            <a:extLst>
              <a:ext uri="{FF2B5EF4-FFF2-40B4-BE49-F238E27FC236}">
                <a16:creationId xmlns:a16="http://schemas.microsoft.com/office/drawing/2014/main" id="{3EE1A4E2-EA1B-A33D-1411-C34D936DEB42}"/>
              </a:ext>
            </a:extLst>
          </p:cNvPr>
          <p:cNvSpPr/>
          <p:nvPr/>
        </p:nvSpPr>
        <p:spPr>
          <a:xfrm rot="16200000">
            <a:off x="6821225" y="2765854"/>
            <a:ext cx="167488" cy="3728887"/>
          </a:xfrm>
          <a:prstGeom prst="leftBracket">
            <a:avLst/>
          </a:prstGeom>
          <a:ln>
            <a:solidFill>
              <a:srgbClr val="0F4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E7EB66F-4B9F-197C-BE82-9E9BF5ABF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25" y="5124909"/>
            <a:ext cx="2871787" cy="984885"/>
          </a:xfrm>
          <a:prstGeom prst="rect">
            <a:avLst/>
          </a:prstGeom>
          <a:solidFill>
            <a:srgbClr val="0F406B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dirty="0">
                <a:solidFill>
                  <a:schemeClr val="bg1"/>
                </a:solidFill>
                <a:latin typeface="Arial" panose="020B0604020202020204" pitchFamily="34" charset="0"/>
              </a:rPr>
              <a:t>Test set: </a:t>
            </a:r>
            <a:r>
              <a:rPr lang="it-IT" altLang="it-IT" dirty="0" err="1">
                <a:solidFill>
                  <a:schemeClr val="bg1"/>
                </a:solidFill>
                <a:latin typeface="Arial" panose="020B0604020202020204" pitchFamily="34" charset="0"/>
              </a:rPr>
              <a:t>DamasconeB</a:t>
            </a:r>
            <a:endParaRPr lang="it-IT" altLang="it-IT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dirty="0">
                <a:solidFill>
                  <a:schemeClr val="bg1"/>
                </a:solidFill>
                <a:latin typeface="Arial" panose="020B0604020202020204" pitchFamily="34" charset="0"/>
              </a:rPr>
              <a:t>Overall accuracy: </a:t>
            </a:r>
            <a:r>
              <a:rPr lang="it-IT" altLang="it-IT" sz="2000" b="1" dirty="0">
                <a:solidFill>
                  <a:schemeClr val="bg1"/>
                </a:solidFill>
                <a:latin typeface="Arial" panose="020B0604020202020204" pitchFamily="34" charset="0"/>
              </a:rPr>
              <a:t>0.8383</a:t>
            </a:r>
            <a:endParaRPr lang="it-IT" altLang="it-IT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dirty="0">
                <a:solidFill>
                  <a:schemeClr val="bg1"/>
                </a:solidFill>
                <a:latin typeface="Arial" panose="020B0604020202020204" pitchFamily="34" charset="0"/>
              </a:rPr>
              <a:t>Macro F1-score: </a:t>
            </a:r>
            <a:r>
              <a:rPr lang="it-IT" altLang="it-IT" sz="2000" b="1" dirty="0">
                <a:solidFill>
                  <a:schemeClr val="bg1"/>
                </a:solidFill>
                <a:latin typeface="Arial" panose="020B0604020202020204" pitchFamily="34" charset="0"/>
              </a:rPr>
              <a:t>0.6438</a:t>
            </a:r>
            <a:endParaRPr lang="it-IT" altLang="it-IT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cxnSp>
        <p:nvCxnSpPr>
          <p:cNvPr id="12" name="Connettore a gomito 11">
            <a:extLst>
              <a:ext uri="{FF2B5EF4-FFF2-40B4-BE49-F238E27FC236}">
                <a16:creationId xmlns:a16="http://schemas.microsoft.com/office/drawing/2014/main" id="{37F5C519-C3A3-400E-FA9B-FECF977408A6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rot="5400000">
            <a:off x="4955036" y="3667418"/>
            <a:ext cx="903310" cy="2996559"/>
          </a:xfrm>
          <a:prstGeom prst="bentConnector4">
            <a:avLst>
              <a:gd name="adj1" fmla="val 25307"/>
              <a:gd name="adj2" fmla="val 51397"/>
            </a:avLst>
          </a:prstGeom>
          <a:ln>
            <a:solidFill>
              <a:srgbClr val="0F406B"/>
            </a:solidFill>
            <a:tailEnd type="triangle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8C465D3-FF2B-0666-D858-55E7313E1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420175" y="850794"/>
            <a:ext cx="35469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eaLnBrk="1" hangingPunct="1"/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SINGLE-VALUE METRICS :</a:t>
            </a:r>
          </a:p>
        </p:txBody>
      </p:sp>
    </p:spTree>
    <p:extLst>
      <p:ext uri="{BB962C8B-B14F-4D97-AF65-F5344CB8AC3E}">
        <p14:creationId xmlns:p14="http://schemas.microsoft.com/office/powerpoint/2010/main" val="1487537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CC663-AE59-6CA0-7CB7-3FC37F4BF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schermata, diagramma, numero&#10;&#10;Il contenuto generato dall'IA potrebbe non essere corretto.">
            <a:extLst>
              <a:ext uri="{FF2B5EF4-FFF2-40B4-BE49-F238E27FC236}">
                <a16:creationId xmlns:a16="http://schemas.microsoft.com/office/drawing/2014/main" id="{9900AD72-813C-ECAF-9764-00261CDDF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546" y="2522250"/>
            <a:ext cx="248907" cy="109212"/>
          </a:xfrm>
          <a:prstGeom prst="rect">
            <a:avLst/>
          </a:prstGeom>
        </p:spPr>
      </p:pic>
      <p:sp>
        <p:nvSpPr>
          <p:cNvPr id="6" name="Parallelogramma 5">
            <a:extLst>
              <a:ext uri="{FF2B5EF4-FFF2-40B4-BE49-F238E27FC236}">
                <a16:creationId xmlns:a16="http://schemas.microsoft.com/office/drawing/2014/main" id="{83698DBB-2E59-9C6B-37A2-943CB89F914F}"/>
              </a:ext>
            </a:extLst>
          </p:cNvPr>
          <p:cNvSpPr/>
          <p:nvPr/>
        </p:nvSpPr>
        <p:spPr>
          <a:xfrm>
            <a:off x="-238531" y="6376664"/>
            <a:ext cx="8472199" cy="481339"/>
          </a:xfrm>
          <a:prstGeom prst="parallelogram">
            <a:avLst/>
          </a:prstGeom>
          <a:solidFill>
            <a:srgbClr val="0F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17DDF76B-AB5A-F69E-1292-511650F16A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2" y="6376665"/>
            <a:ext cx="459463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C2CF21FF-EE2C-D214-4598-C9CB768669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10" y="6502433"/>
            <a:ext cx="2395665" cy="220877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5236C35-DF90-88A8-A2E8-172FA456D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716577"/>
            <a:ext cx="340042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eaLnBrk="1" hangingPunct="1"/>
            <a:r>
              <a:rPr lang="it-IT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ESULTS</a:t>
            </a:r>
            <a:endParaRPr lang="it-IT" sz="1400" b="1">
              <a:solidFill>
                <a:srgbClr val="0F40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9C6585EE-CCA2-2C02-7A9D-7513D837942C}"/>
              </a:ext>
            </a:extLst>
          </p:cNvPr>
          <p:cNvCxnSpPr>
            <a:cxnSpLocks/>
          </p:cNvCxnSpPr>
          <p:nvPr/>
        </p:nvCxnSpPr>
        <p:spPr>
          <a:xfrm>
            <a:off x="126749" y="-122934"/>
            <a:ext cx="1819746" cy="0"/>
          </a:xfrm>
          <a:prstGeom prst="line">
            <a:avLst/>
          </a:prstGeom>
          <a:ln w="38100">
            <a:solidFill>
              <a:srgbClr val="0F4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EDB5759-958A-1C30-A8DA-15C4DA8B0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077" y="841552"/>
            <a:ext cx="35469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eaLnBrk="1" hangingPunct="1"/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SINGLE-VALUE METRICS :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920D0C7C-FF59-9210-C4DE-0AB8A3603E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078" y="1486480"/>
            <a:ext cx="8617847" cy="3516349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5BC0F76-1F4A-DF12-28EA-5A54A4E43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673601" y="258181"/>
            <a:ext cx="34004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eaLnBrk="1" hangingPunct="1"/>
            <a:r>
              <a:rPr lang="it-IT" sz="16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CONFUSION MATRICES : 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39213E06-D8C3-EA1E-6626-922421FCD1A5}"/>
              </a:ext>
            </a:extLst>
          </p:cNvPr>
          <p:cNvSpPr/>
          <p:nvPr/>
        </p:nvSpPr>
        <p:spPr>
          <a:xfrm>
            <a:off x="7372352" y="1993855"/>
            <a:ext cx="1014367" cy="74295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5C46F988-57AE-7FEB-7A6B-BC0A9E7734DC}"/>
              </a:ext>
            </a:extLst>
          </p:cNvPr>
          <p:cNvSpPr/>
          <p:nvPr/>
        </p:nvSpPr>
        <p:spPr>
          <a:xfrm>
            <a:off x="7372352" y="2809876"/>
            <a:ext cx="1014367" cy="1619251"/>
          </a:xfrm>
          <a:prstGeom prst="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Immagine 1" descr="Immagine che contiene testo, schermata, modello, Policromia&#10;&#10;Il contenuto generato dall'IA potrebbe non essere corretto.">
            <a:extLst>
              <a:ext uri="{FF2B5EF4-FFF2-40B4-BE49-F238E27FC236}">
                <a16:creationId xmlns:a16="http://schemas.microsoft.com/office/drawing/2014/main" id="{9E21B716-75A3-6483-E320-86AB8FEB94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244555" y="60543"/>
            <a:ext cx="6006023" cy="6307193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24E691AB-E1DB-A7DD-602D-AAD70B50D2D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2546796" y="4281167"/>
            <a:ext cx="35469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eaLnBrk="1" hangingPunct="1"/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PREDICTION MAP :</a:t>
            </a:r>
          </a:p>
        </p:txBody>
      </p:sp>
    </p:spTree>
    <p:extLst>
      <p:ext uri="{BB962C8B-B14F-4D97-AF65-F5344CB8AC3E}">
        <p14:creationId xmlns:p14="http://schemas.microsoft.com/office/powerpoint/2010/main" val="3419002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3CCBC-84C6-070E-1D25-18A2510C9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7A9DAF3D-B416-2E2D-3006-6477F65A364B}"/>
              </a:ext>
            </a:extLst>
          </p:cNvPr>
          <p:cNvSpPr/>
          <p:nvPr/>
        </p:nvSpPr>
        <p:spPr>
          <a:xfrm>
            <a:off x="-238531" y="6376664"/>
            <a:ext cx="8472199" cy="481339"/>
          </a:xfrm>
          <a:prstGeom prst="parallelogram">
            <a:avLst/>
          </a:prstGeom>
          <a:solidFill>
            <a:srgbClr val="0F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6590C4BC-7047-072A-BAB0-8E45EF6AE2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2" y="6376665"/>
            <a:ext cx="459463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FD496076-20C2-F701-DFFB-5BEE68A08D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10" y="6502433"/>
            <a:ext cx="2395665" cy="220877"/>
          </a:xfrm>
          <a:prstGeom prst="rect">
            <a:avLst/>
          </a:prstGeom>
        </p:spPr>
      </p:pic>
      <p:pic>
        <p:nvPicPr>
          <p:cNvPr id="3" name="Immagine 2" descr="Immagine che contiene testo, schermata, modello, Policromia&#10;&#10;Il contenuto generato dall'IA potrebbe non essere corretto.">
            <a:extLst>
              <a:ext uri="{FF2B5EF4-FFF2-40B4-BE49-F238E27FC236}">
                <a16:creationId xmlns:a16="http://schemas.microsoft.com/office/drawing/2014/main" id="{930D28AC-45F2-D4CE-CDE5-AAE61AF2E5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39" y="60546"/>
            <a:ext cx="6006023" cy="6307193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0CB78EB3-7A1E-AF5B-FB70-41B799F023E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452281" y="4281169"/>
            <a:ext cx="35469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eaLnBrk="1" hangingPunct="1"/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PREDICTION MAP :</a:t>
            </a: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C5AB9CFF-6EE7-E9C0-5645-FB43189E9E8A}"/>
              </a:ext>
            </a:extLst>
          </p:cNvPr>
          <p:cNvSpPr/>
          <p:nvPr/>
        </p:nvSpPr>
        <p:spPr>
          <a:xfrm>
            <a:off x="1108957" y="568089"/>
            <a:ext cx="768485" cy="758757"/>
          </a:xfrm>
          <a:prstGeom prst="ellipse">
            <a:avLst/>
          </a:prstGeom>
          <a:noFill/>
          <a:ln w="38100"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288DAED7-8C5F-A511-3AAF-E200E17E654E}"/>
              </a:ext>
            </a:extLst>
          </p:cNvPr>
          <p:cNvSpPr/>
          <p:nvPr/>
        </p:nvSpPr>
        <p:spPr>
          <a:xfrm>
            <a:off x="3140007" y="1625160"/>
            <a:ext cx="768485" cy="758757"/>
          </a:xfrm>
          <a:prstGeom prst="ellipse">
            <a:avLst/>
          </a:prstGeom>
          <a:noFill/>
          <a:ln w="38100">
            <a:solidFill>
              <a:srgbClr val="0F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3BDA51E-836F-C934-A710-BA50DA169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261" y="597909"/>
            <a:ext cx="261674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eaLnBrk="1" hangingPunct="1"/>
            <a:r>
              <a:rPr lang="it-IT" sz="18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it-IT" sz="1800" b="1" err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classifier</a:t>
            </a:r>
            <a:r>
              <a:rPr lang="it-IT" sz="18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800" b="1" err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it-IT" sz="18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800" b="1" err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still</a:t>
            </a:r>
            <a:r>
              <a:rPr lang="it-IT" sz="18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800" b="1" err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able</a:t>
            </a:r>
            <a:r>
              <a:rPr lang="it-IT" sz="18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predict the </a:t>
            </a:r>
            <a:r>
              <a:rPr lang="it-IT" sz="1800" b="1" err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right</a:t>
            </a:r>
            <a:r>
              <a:rPr lang="it-IT" sz="18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class for hard </a:t>
            </a:r>
            <a:r>
              <a:rPr lang="it-IT" sz="1800" b="1" err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areas</a:t>
            </a:r>
            <a:r>
              <a:rPr lang="it-IT" sz="18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!</a:t>
            </a:r>
          </a:p>
        </p:txBody>
      </p:sp>
      <p:cxnSp>
        <p:nvCxnSpPr>
          <p:cNvPr id="11" name="Connettore a gomito 10">
            <a:extLst>
              <a:ext uri="{FF2B5EF4-FFF2-40B4-BE49-F238E27FC236}">
                <a16:creationId xmlns:a16="http://schemas.microsoft.com/office/drawing/2014/main" id="{04ED7C4E-F39A-AD95-76EB-39FE931E6165}"/>
              </a:ext>
            </a:extLst>
          </p:cNvPr>
          <p:cNvCxnSpPr>
            <a:cxnSpLocks/>
            <a:stCxn id="9" idx="6"/>
            <a:endCxn id="10" idx="1"/>
          </p:cNvCxnSpPr>
          <p:nvPr/>
        </p:nvCxnSpPr>
        <p:spPr>
          <a:xfrm flipV="1">
            <a:off x="3908492" y="1198074"/>
            <a:ext cx="2618769" cy="806465"/>
          </a:xfrm>
          <a:prstGeom prst="bentConnector3">
            <a:avLst>
              <a:gd name="adj1" fmla="val 50000"/>
            </a:avLst>
          </a:prstGeom>
          <a:ln>
            <a:solidFill>
              <a:srgbClr val="0F406B"/>
            </a:solidFill>
            <a:tailEnd type="triangle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a gomito 13">
            <a:extLst>
              <a:ext uri="{FF2B5EF4-FFF2-40B4-BE49-F238E27FC236}">
                <a16:creationId xmlns:a16="http://schemas.microsoft.com/office/drawing/2014/main" id="{E1D4177D-D6AB-2BE5-F0C0-A03478556F8F}"/>
              </a:ext>
            </a:extLst>
          </p:cNvPr>
          <p:cNvCxnSpPr>
            <a:cxnSpLocks/>
            <a:stCxn id="5" idx="0"/>
            <a:endCxn id="10" idx="0"/>
          </p:cNvCxnSpPr>
          <p:nvPr/>
        </p:nvCxnSpPr>
        <p:spPr>
          <a:xfrm rot="16200000" flipH="1">
            <a:off x="4649502" y="-2588220"/>
            <a:ext cx="29821" cy="6342433"/>
          </a:xfrm>
          <a:prstGeom prst="bentConnector3">
            <a:avLst>
              <a:gd name="adj1" fmla="val -766600"/>
            </a:avLst>
          </a:prstGeom>
          <a:ln>
            <a:solidFill>
              <a:srgbClr val="0F406B"/>
            </a:solidFill>
            <a:tailEnd type="triangle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16E40F1-B3FB-DFE9-6463-7F7065D5B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2437" y="2990270"/>
            <a:ext cx="2802581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algn="ctr" eaLnBrk="1" hangingPunct="1"/>
            <a:r>
              <a:rPr lang="it-IT" sz="18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VALUABLE </a:t>
            </a:r>
          </a:p>
          <a:p>
            <a:pPr algn="ctr" eaLnBrk="1" hangingPunct="1"/>
            <a:r>
              <a:rPr lang="it-IT" sz="1800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AN APPLICATION STANDPOINT</a:t>
            </a:r>
          </a:p>
        </p:txBody>
      </p: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0DB616FD-D4F7-0C48-22E2-D1B0B5B478FD}"/>
              </a:ext>
            </a:extLst>
          </p:cNvPr>
          <p:cNvCxnSpPr>
            <a:cxnSpLocks/>
          </p:cNvCxnSpPr>
          <p:nvPr/>
        </p:nvCxnSpPr>
        <p:spPr>
          <a:xfrm>
            <a:off x="7743725" y="1798236"/>
            <a:ext cx="17643" cy="1071424"/>
          </a:xfrm>
          <a:prstGeom prst="straightConnector1">
            <a:avLst/>
          </a:prstGeom>
          <a:ln>
            <a:solidFill>
              <a:srgbClr val="0F406B"/>
            </a:solidFill>
            <a:tailEnd type="triangle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3" name="Elemento grafico 32" descr="Segno di spunta con riempimento a tinta unita">
            <a:extLst>
              <a:ext uri="{FF2B5EF4-FFF2-40B4-BE49-F238E27FC236}">
                <a16:creationId xmlns:a16="http://schemas.microsoft.com/office/drawing/2014/main" id="{DECB1539-CE16-2F79-02D5-BE816ED956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78429" y="4069988"/>
            <a:ext cx="914400" cy="914400"/>
          </a:xfrm>
          <a:prstGeom prst="rect">
            <a:avLst/>
          </a:prstGeom>
        </p:spPr>
      </p:pic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2DA6C3F6-52EE-2DA1-22CB-07578BF72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577136" y="841551"/>
            <a:ext cx="35469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eaLnBrk="1" hangingPunct="1"/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SINGLE-VALUE METRICS :</a:t>
            </a:r>
          </a:p>
        </p:txBody>
      </p:sp>
      <p:pic>
        <p:nvPicPr>
          <p:cNvPr id="35" name="Immagine 34">
            <a:extLst>
              <a:ext uri="{FF2B5EF4-FFF2-40B4-BE49-F238E27FC236}">
                <a16:creationId xmlns:a16="http://schemas.microsoft.com/office/drawing/2014/main" id="{DD0BB529-EFBD-EB89-62EC-668E841377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8790579" y="1486477"/>
            <a:ext cx="8617846" cy="3516349"/>
          </a:xfrm>
          <a:prstGeom prst="rect">
            <a:avLst/>
          </a:prstGeom>
        </p:spPr>
      </p:pic>
      <p:sp>
        <p:nvSpPr>
          <p:cNvPr id="36" name="Rettangolo 35">
            <a:extLst>
              <a:ext uri="{FF2B5EF4-FFF2-40B4-BE49-F238E27FC236}">
                <a16:creationId xmlns:a16="http://schemas.microsoft.com/office/drawing/2014/main" id="{56C87FFE-4E60-E706-16E3-B65940835D8E}"/>
              </a:ext>
            </a:extLst>
          </p:cNvPr>
          <p:cNvSpPr/>
          <p:nvPr/>
        </p:nvSpPr>
        <p:spPr>
          <a:xfrm>
            <a:off x="-1681306" y="1993854"/>
            <a:ext cx="1014367" cy="74295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645D8AA9-F51B-AC16-09A5-A5950FE91EBE}"/>
              </a:ext>
            </a:extLst>
          </p:cNvPr>
          <p:cNvSpPr/>
          <p:nvPr/>
        </p:nvSpPr>
        <p:spPr>
          <a:xfrm>
            <a:off x="-1681306" y="2809875"/>
            <a:ext cx="1014367" cy="1619250"/>
          </a:xfrm>
          <a:prstGeom prst="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Picture 1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D1A15103-3347-24D0-BA1B-C23DD50964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292" y="1362125"/>
            <a:ext cx="7548319" cy="367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801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A3154-0C21-66FB-937F-85E7C20F9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7480E16A-8F93-CFC9-5A3D-9EAB86F58462}"/>
              </a:ext>
            </a:extLst>
          </p:cNvPr>
          <p:cNvSpPr/>
          <p:nvPr/>
        </p:nvSpPr>
        <p:spPr>
          <a:xfrm>
            <a:off x="-238531" y="6376664"/>
            <a:ext cx="8472199" cy="481339"/>
          </a:xfrm>
          <a:prstGeom prst="parallelogram">
            <a:avLst/>
          </a:prstGeom>
          <a:solidFill>
            <a:srgbClr val="0F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6E5181CC-54C4-6419-4D13-F4AE943A6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2" y="6376665"/>
            <a:ext cx="459463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642F71BE-73A2-5D81-A324-2CF922FBB5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10" y="6502433"/>
            <a:ext cx="2395665" cy="220877"/>
          </a:xfrm>
          <a:prstGeom prst="rect">
            <a:avLst/>
          </a:prstGeom>
        </p:spPr>
      </p:pic>
      <p:sp>
        <p:nvSpPr>
          <p:cNvPr id="26" name="CasellaDiTesto 1">
            <a:extLst>
              <a:ext uri="{FF2B5EF4-FFF2-40B4-BE49-F238E27FC236}">
                <a16:creationId xmlns:a16="http://schemas.microsoft.com/office/drawing/2014/main" id="{CC8A0F2D-8A2D-6B40-EEF7-106820206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98" y="1900"/>
            <a:ext cx="75483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2800" b="1">
                <a:solidFill>
                  <a:srgbClr val="0F406B"/>
                </a:solidFill>
                <a:latin typeface="Arial"/>
                <a:cs typeface="Arial"/>
              </a:rPr>
              <a:t>M</a:t>
            </a:r>
            <a:r>
              <a:rPr lang="it-IT" sz="2000" b="1">
                <a:solidFill>
                  <a:srgbClr val="0F406B"/>
                </a:solidFill>
                <a:latin typeface="Arial"/>
                <a:cs typeface="Arial"/>
              </a:rPr>
              <a:t>ODEL EXPLAINATION: </a:t>
            </a:r>
            <a:r>
              <a:rPr lang="it-IT" sz="2800" b="1">
                <a:solidFill>
                  <a:srgbClr val="0F406B"/>
                </a:solidFill>
                <a:latin typeface="Arial"/>
                <a:cs typeface="Arial"/>
              </a:rPr>
              <a:t>SHAP</a:t>
            </a:r>
          </a:p>
        </p:txBody>
      </p:sp>
      <p:cxnSp>
        <p:nvCxnSpPr>
          <p:cNvPr id="27" name="Connettore diritto 15">
            <a:extLst>
              <a:ext uri="{FF2B5EF4-FFF2-40B4-BE49-F238E27FC236}">
                <a16:creationId xmlns:a16="http://schemas.microsoft.com/office/drawing/2014/main" id="{584C798B-E335-8C44-F560-F09D58046FFD}"/>
              </a:ext>
            </a:extLst>
          </p:cNvPr>
          <p:cNvCxnSpPr>
            <a:cxnSpLocks/>
          </p:cNvCxnSpPr>
          <p:nvPr/>
        </p:nvCxnSpPr>
        <p:spPr>
          <a:xfrm flipV="1">
            <a:off x="110087" y="478577"/>
            <a:ext cx="4115295" cy="6096"/>
          </a:xfrm>
          <a:prstGeom prst="line">
            <a:avLst/>
          </a:prstGeom>
          <a:ln>
            <a:solidFill>
              <a:srgbClr val="0F406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BED5892E-BBC4-BABA-FDC3-8D81660606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606" y="1496960"/>
            <a:ext cx="7548319" cy="367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60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A7FA5-F716-E0AC-6EF7-1CC96C414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6AC4C72B-047A-8A23-EE09-30028062BCB2}"/>
              </a:ext>
            </a:extLst>
          </p:cNvPr>
          <p:cNvSpPr/>
          <p:nvPr/>
        </p:nvSpPr>
        <p:spPr>
          <a:xfrm>
            <a:off x="-238531" y="6376664"/>
            <a:ext cx="8472199" cy="481339"/>
          </a:xfrm>
          <a:prstGeom prst="parallelogram">
            <a:avLst/>
          </a:prstGeom>
          <a:solidFill>
            <a:srgbClr val="0F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12EA1A38-CABB-5C2C-8AC3-B7FE7667CA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2" y="6376665"/>
            <a:ext cx="459463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A01474F5-4E61-1050-4E66-5690564339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10" y="6502433"/>
            <a:ext cx="2395665" cy="220877"/>
          </a:xfrm>
          <a:prstGeom prst="rect">
            <a:avLst/>
          </a:prstGeom>
        </p:spPr>
      </p:pic>
      <p:sp>
        <p:nvSpPr>
          <p:cNvPr id="26" name="CasellaDiTesto 1">
            <a:extLst>
              <a:ext uri="{FF2B5EF4-FFF2-40B4-BE49-F238E27FC236}">
                <a16:creationId xmlns:a16="http://schemas.microsoft.com/office/drawing/2014/main" id="{5F3CF18E-3EF4-D822-65EE-E26B9E6BC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98" y="1900"/>
            <a:ext cx="85653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r>
              <a:rPr lang="it-IT" sz="2800" b="1" dirty="0">
                <a:solidFill>
                  <a:srgbClr val="0F406B"/>
                </a:solidFill>
                <a:latin typeface="Arial"/>
                <a:cs typeface="Arial"/>
              </a:rPr>
              <a:t>Considering same DAMASCONI for invarince</a:t>
            </a:r>
          </a:p>
        </p:txBody>
      </p:sp>
      <p:cxnSp>
        <p:nvCxnSpPr>
          <p:cNvPr id="27" name="Connettore diritto 15">
            <a:extLst>
              <a:ext uri="{FF2B5EF4-FFF2-40B4-BE49-F238E27FC236}">
                <a16:creationId xmlns:a16="http://schemas.microsoft.com/office/drawing/2014/main" id="{FE63ADB7-7203-4335-CCF5-DCF8CC753E21}"/>
              </a:ext>
            </a:extLst>
          </p:cNvPr>
          <p:cNvCxnSpPr>
            <a:cxnSpLocks/>
          </p:cNvCxnSpPr>
          <p:nvPr/>
        </p:nvCxnSpPr>
        <p:spPr>
          <a:xfrm>
            <a:off x="110087" y="484673"/>
            <a:ext cx="7743188" cy="0"/>
          </a:xfrm>
          <a:prstGeom prst="line">
            <a:avLst/>
          </a:prstGeom>
          <a:ln>
            <a:solidFill>
              <a:srgbClr val="0F406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F938C256-BEF1-C6BB-8261-B5A762B610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49209"/>
            <a:ext cx="9144000" cy="401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580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820F0-A49C-0564-9B3F-BF2324951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3425D7E4-AD5E-92C0-2916-42E8677B566C}"/>
              </a:ext>
            </a:extLst>
          </p:cNvPr>
          <p:cNvSpPr/>
          <p:nvPr/>
        </p:nvSpPr>
        <p:spPr>
          <a:xfrm>
            <a:off x="-238531" y="6376664"/>
            <a:ext cx="8472199" cy="481339"/>
          </a:xfrm>
          <a:prstGeom prst="parallelogram">
            <a:avLst/>
          </a:prstGeom>
          <a:solidFill>
            <a:srgbClr val="0F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49D43C45-CE51-FC41-7662-2299BA5D5F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2" y="6376665"/>
            <a:ext cx="459463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A1983C1D-D5A6-C2D7-D5AA-088E421257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10" y="6502433"/>
            <a:ext cx="2395665" cy="22087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89F97534-A823-245E-991A-DDFEC2E8ED61}"/>
              </a:ext>
            </a:extLst>
          </p:cNvPr>
          <p:cNvSpPr txBox="1"/>
          <p:nvPr/>
        </p:nvSpPr>
        <p:spPr>
          <a:xfrm>
            <a:off x="154577" y="1415762"/>
            <a:ext cx="8989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8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Massari, L.; Bulletti, A.; </a:t>
            </a:r>
            <a:r>
              <a:rPr lang="it-IT" sz="1800" b="0" i="0" u="none" strike="noStrike" baseline="0" err="1">
                <a:latin typeface="Arial" panose="020B0604020202020204" pitchFamily="34" charset="0"/>
                <a:cs typeface="Arial" panose="020B0604020202020204" pitchFamily="34" charset="0"/>
              </a:rPr>
              <a:t>Prasanna</a:t>
            </a:r>
            <a:r>
              <a:rPr lang="it-IT" sz="18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, S.; Mazzoni, M.; Frosini, F.; Vicari, E.; Pantano, M.; Staderini, </a:t>
            </a:r>
            <a:r>
              <a:rPr lang="en-US" sz="18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F.; </a:t>
            </a:r>
            <a:r>
              <a:rPr lang="en-US" sz="1800" b="0" i="0" u="none" strike="noStrike" baseline="0" err="1">
                <a:latin typeface="Arial" panose="020B0604020202020204" pitchFamily="34" charset="0"/>
                <a:cs typeface="Arial" panose="020B0604020202020204" pitchFamily="34" charset="0"/>
              </a:rPr>
              <a:t>Ciuti</a:t>
            </a:r>
            <a:r>
              <a:rPr lang="en-US" sz="18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, G.; </a:t>
            </a:r>
            <a:r>
              <a:rPr lang="en-US" sz="1800" b="0" i="0" u="none" strike="noStrike" baseline="0" err="1">
                <a:latin typeface="Arial" panose="020B0604020202020204" pitchFamily="34" charset="0"/>
                <a:cs typeface="Arial" panose="020B0604020202020204" pitchFamily="34" charset="0"/>
              </a:rPr>
              <a:t>Cianchi</a:t>
            </a:r>
            <a:r>
              <a:rPr lang="en-US" sz="18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, F.; et al. A Mechatronic Platform for Computer Aided Detection of Nodules in Anatomopathological Analyses via Stiffness and Ultrasound Measurements. Sensors 2019, 19, 2512, </a:t>
            </a:r>
            <a:r>
              <a:rPr lang="pt-BR" sz="18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doi: https://doi.org/10.3390/s19112512</a:t>
            </a:r>
            <a:endParaRPr lang="it-IT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sellaDiTesto 1">
            <a:extLst>
              <a:ext uri="{FF2B5EF4-FFF2-40B4-BE49-F238E27FC236}">
                <a16:creationId xmlns:a16="http://schemas.microsoft.com/office/drawing/2014/main" id="{2882E9BA-5C4E-1C0D-F7C9-020162DE0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422" y="200264"/>
            <a:ext cx="467710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algn="ctr" eaLnBrk="1" hangingPunct="1"/>
            <a:r>
              <a:rPr lang="it-IT" sz="28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it-IT" sz="2000" b="1">
                <a:solidFill>
                  <a:srgbClr val="0F40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EFERENCES</a:t>
            </a:r>
            <a:endParaRPr lang="it-IT" sz="2800" b="1">
              <a:solidFill>
                <a:srgbClr val="0F40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Connettore diritto 15">
            <a:extLst>
              <a:ext uri="{FF2B5EF4-FFF2-40B4-BE49-F238E27FC236}">
                <a16:creationId xmlns:a16="http://schemas.microsoft.com/office/drawing/2014/main" id="{D831160F-16F5-8164-0DB4-3B96FAC72D8A}"/>
              </a:ext>
            </a:extLst>
          </p:cNvPr>
          <p:cNvCxnSpPr>
            <a:cxnSpLocks/>
          </p:cNvCxnSpPr>
          <p:nvPr/>
        </p:nvCxnSpPr>
        <p:spPr>
          <a:xfrm>
            <a:off x="3463347" y="723484"/>
            <a:ext cx="2211247" cy="0"/>
          </a:xfrm>
          <a:prstGeom prst="line">
            <a:avLst/>
          </a:prstGeom>
          <a:ln>
            <a:solidFill>
              <a:srgbClr val="0F406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D48AB73-132A-7888-7882-ECE2FC85B5E4}"/>
              </a:ext>
            </a:extLst>
          </p:cNvPr>
          <p:cNvSpPr txBox="1"/>
          <p:nvPr/>
        </p:nvSpPr>
        <p:spPr>
          <a:xfrm>
            <a:off x="154577" y="3429000"/>
            <a:ext cx="8763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err="1">
                <a:latin typeface="Arial" panose="020B0604020202020204" pitchFamily="34" charset="0"/>
                <a:cs typeface="Arial" panose="020B0604020202020204" pitchFamily="34" charset="0"/>
              </a:rPr>
              <a:t>Haibo</a:t>
            </a:r>
            <a:r>
              <a:rPr lang="en-US" sz="18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 He, Yang Bai, E. A. Garcia and </a:t>
            </a:r>
            <a:r>
              <a:rPr lang="en-US" sz="1800" b="0" i="0" u="none" strike="noStrike" baseline="0" err="1">
                <a:latin typeface="Arial" panose="020B0604020202020204" pitchFamily="34" charset="0"/>
                <a:cs typeface="Arial" panose="020B0604020202020204" pitchFamily="34" charset="0"/>
              </a:rPr>
              <a:t>Shutao</a:t>
            </a:r>
            <a:r>
              <a:rPr lang="en-US" sz="18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 Li, ”ADASYN: Adaptive synthetic sampling approach for imbalanced learning,” 2008 IEEE International Joint Conference on Neural Networks (IEEE World Congress on Computational Intelligence), Hong Kong, 2008, pp. 1322-1328, doi:10.1109/IJCNN.2008.4633969.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74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A16B2-4CE7-2708-4BF0-17CB1DCB7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4B625E55-C017-95CE-3B8A-09CA56FAEB63}"/>
              </a:ext>
            </a:extLst>
          </p:cNvPr>
          <p:cNvSpPr/>
          <p:nvPr/>
        </p:nvSpPr>
        <p:spPr>
          <a:xfrm>
            <a:off x="-238531" y="6376664"/>
            <a:ext cx="8472199" cy="481339"/>
          </a:xfrm>
          <a:prstGeom prst="parallelogram">
            <a:avLst/>
          </a:prstGeom>
          <a:solidFill>
            <a:srgbClr val="0F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F406B"/>
              </a:solidFill>
            </a:endParaRPr>
          </a:p>
        </p:txBody>
      </p:sp>
      <p:pic>
        <p:nvPicPr>
          <p:cNvPr id="7" name="Immagine 6" descr="cherubino_pant541.eps">
            <a:extLst>
              <a:ext uri="{FF2B5EF4-FFF2-40B4-BE49-F238E27FC236}">
                <a16:creationId xmlns:a16="http://schemas.microsoft.com/office/drawing/2014/main" id="{BAD2369A-4B7B-49E8-700A-C45802428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2" y="6376665"/>
            <a:ext cx="459463" cy="469067"/>
          </a:xfrm>
          <a:prstGeom prst="rect">
            <a:avLst/>
          </a:prstGeom>
        </p:spPr>
      </p:pic>
      <p:pic>
        <p:nvPicPr>
          <p:cNvPr id="8" name="Immagine 7" descr="logo_white.eps">
            <a:extLst>
              <a:ext uri="{FF2B5EF4-FFF2-40B4-BE49-F238E27FC236}">
                <a16:creationId xmlns:a16="http://schemas.microsoft.com/office/drawing/2014/main" id="{62EFDFB7-DE2A-0645-66C6-D7C2A561F1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10" y="6502433"/>
            <a:ext cx="2395665" cy="220877"/>
          </a:xfrm>
          <a:prstGeom prst="rect">
            <a:avLst/>
          </a:prstGeom>
        </p:spPr>
      </p:pic>
      <p:sp>
        <p:nvSpPr>
          <p:cNvPr id="5" name="CasellaDiTesto 1">
            <a:extLst>
              <a:ext uri="{FF2B5EF4-FFF2-40B4-BE49-F238E27FC236}">
                <a16:creationId xmlns:a16="http://schemas.microsoft.com/office/drawing/2014/main" id="{68460BB0-6759-0B12-1123-1F16EEDCC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542" y="2387749"/>
            <a:ext cx="562285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1pPr>
            <a:lvl2pPr marL="742950" indent="-28575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2pPr>
            <a:lvl3pPr marL="11430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3pPr>
            <a:lvl4pPr marL="16002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4pPr>
            <a:lvl5pPr marL="2057400" indent="-228600" eaLnBrk="0" hangingPunct="0"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414141"/>
                </a:solidFill>
                <a:latin typeface="Gill Sans Light" charset="0"/>
                <a:ea typeface="ヒラギノ角ゴ ProN W3" charset="0"/>
                <a:cs typeface="ヒラギノ角ゴ ProN W3" charset="0"/>
                <a:sym typeface="Gill Sans Light" charset="0"/>
              </a:defRPr>
            </a:lvl9pPr>
          </a:lstStyle>
          <a:p>
            <a:pPr algn="ctr" eaLnBrk="1" hangingPunct="1"/>
            <a:r>
              <a:rPr lang="it-IT" sz="2800" b="1">
                <a:solidFill>
                  <a:srgbClr val="0F406B"/>
                </a:solidFill>
                <a:latin typeface="Arial"/>
                <a:cs typeface="Arial"/>
              </a:rPr>
              <a:t>THANK YOU FOR YOUR ATTENTION</a:t>
            </a:r>
          </a:p>
        </p:txBody>
      </p:sp>
      <p:cxnSp>
        <p:nvCxnSpPr>
          <p:cNvPr id="9" name="Connettore diritto 15">
            <a:extLst>
              <a:ext uri="{FF2B5EF4-FFF2-40B4-BE49-F238E27FC236}">
                <a16:creationId xmlns:a16="http://schemas.microsoft.com/office/drawing/2014/main" id="{FDC74400-3B2B-D7E3-C2B3-477D340607A1}"/>
              </a:ext>
            </a:extLst>
          </p:cNvPr>
          <p:cNvCxnSpPr>
            <a:cxnSpLocks/>
          </p:cNvCxnSpPr>
          <p:nvPr/>
        </p:nvCxnSpPr>
        <p:spPr>
          <a:xfrm>
            <a:off x="3463345" y="3429000"/>
            <a:ext cx="2211247" cy="0"/>
          </a:xfrm>
          <a:prstGeom prst="line">
            <a:avLst/>
          </a:prstGeom>
          <a:ln>
            <a:solidFill>
              <a:srgbClr val="0F406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2661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84DECEDC1AB345A42A165B6E66DDF2" ma:contentTypeVersion="5" ma:contentTypeDescription="Create a new document." ma:contentTypeScope="" ma:versionID="399a9e366c866d1ab7c3ed7d7c802c87">
  <xsd:schema xmlns:xsd="http://www.w3.org/2001/XMLSchema" xmlns:xs="http://www.w3.org/2001/XMLSchema" xmlns:p="http://schemas.microsoft.com/office/2006/metadata/properties" xmlns:ns3="2a430ece-bd3d-4b23-b4ad-a6fd4059b123" targetNamespace="http://schemas.microsoft.com/office/2006/metadata/properties" ma:root="true" ma:fieldsID="6875eea47f50b88d1cfa825fb8371b5a" ns3:_="">
    <xsd:import namespace="2a430ece-bd3d-4b23-b4ad-a6fd4059b12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430ece-bd3d-4b23-b4ad-a6fd4059b12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a430ece-bd3d-4b23-b4ad-a6fd4059b12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881693-5C85-4499-BA8F-8B95FE56474F}">
  <ds:schemaRefs>
    <ds:schemaRef ds:uri="2a430ece-bd3d-4b23-b4ad-a6fd4059b12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7B3249A-4FFF-4BAF-9AE7-CD3AE4597344}">
  <ds:schemaRefs>
    <ds:schemaRef ds:uri="2a430ece-bd3d-4b23-b4ad-a6fd4059b12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3177990-2FF3-4701-82BA-B3ECCF19FF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968</Words>
  <Application>Microsoft Office PowerPoint</Application>
  <PresentationFormat>Presentazione su schermo (4:3)</PresentationFormat>
  <Paragraphs>173</Paragraphs>
  <Slides>23</Slides>
  <Notes>20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30" baseType="lpstr">
      <vt:lpstr>Arial,Sans-Serif</vt:lpstr>
      <vt:lpstr>Aptos</vt:lpstr>
      <vt:lpstr>Arial</vt:lpstr>
      <vt:lpstr>Calibri</vt:lpstr>
      <vt:lpstr>Cambria Math</vt:lpstr>
      <vt:lpstr>Wingdings</vt:lpstr>
      <vt:lpstr>Tema di Office</vt:lpstr>
      <vt:lpstr>A Material Classification Protocol for a Mechatronic Platform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Ufficio Comunicazione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dcasfasf</dc:title>
  <dc:creator>Bruno Sereni</dc:creator>
  <cp:lastModifiedBy>Giovanni Luca Biundo</cp:lastModifiedBy>
  <cp:revision>4</cp:revision>
  <dcterms:created xsi:type="dcterms:W3CDTF">2015-08-31T13:52:36Z</dcterms:created>
  <dcterms:modified xsi:type="dcterms:W3CDTF">2025-10-03T09:43:42Z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0x0101005384DECEDC1AB345A42A165B6E66DDF2</vt:lpwstr>
  </property>
</Properties>
</file>